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3"/>
  </p:notesMasterIdLst>
  <p:sldIdLst>
    <p:sldId id="256" r:id="rId2"/>
    <p:sldId id="261" r:id="rId3"/>
    <p:sldId id="706" r:id="rId4"/>
    <p:sldId id="690" r:id="rId5"/>
    <p:sldId id="707" r:id="rId6"/>
    <p:sldId id="709" r:id="rId7"/>
    <p:sldId id="710" r:id="rId8"/>
    <p:sldId id="711" r:id="rId9"/>
    <p:sldId id="728" r:id="rId10"/>
    <p:sldId id="726" r:id="rId11"/>
    <p:sldId id="731" r:id="rId12"/>
    <p:sldId id="730" r:id="rId13"/>
    <p:sldId id="743" r:id="rId14"/>
    <p:sldId id="742" r:id="rId15"/>
    <p:sldId id="744" r:id="rId16"/>
    <p:sldId id="732" r:id="rId17"/>
    <p:sldId id="741" r:id="rId18"/>
    <p:sldId id="740" r:id="rId19"/>
    <p:sldId id="733" r:id="rId20"/>
    <p:sldId id="770" r:id="rId21"/>
    <p:sldId id="771" r:id="rId22"/>
    <p:sldId id="772" r:id="rId23"/>
    <p:sldId id="735" r:id="rId24"/>
    <p:sldId id="773" r:id="rId25"/>
    <p:sldId id="774" r:id="rId26"/>
    <p:sldId id="775" r:id="rId27"/>
    <p:sldId id="738" r:id="rId28"/>
    <p:sldId id="736" r:id="rId29"/>
    <p:sldId id="739" r:id="rId30"/>
    <p:sldId id="725" r:id="rId31"/>
    <p:sldId id="724" r:id="rId32"/>
    <p:sldId id="729" r:id="rId33"/>
    <p:sldId id="723" r:id="rId34"/>
    <p:sldId id="719" r:id="rId35"/>
    <p:sldId id="720" r:id="rId36"/>
    <p:sldId id="721" r:id="rId37"/>
    <p:sldId id="745" r:id="rId38"/>
    <p:sldId id="748" r:id="rId39"/>
    <p:sldId id="750" r:id="rId40"/>
    <p:sldId id="751" r:id="rId41"/>
    <p:sldId id="749" r:id="rId42"/>
    <p:sldId id="746" r:id="rId43"/>
    <p:sldId id="752" r:id="rId44"/>
    <p:sldId id="753" r:id="rId45"/>
    <p:sldId id="754" r:id="rId46"/>
    <p:sldId id="755" r:id="rId47"/>
    <p:sldId id="756" r:id="rId48"/>
    <p:sldId id="747" r:id="rId49"/>
    <p:sldId id="757" r:id="rId50"/>
    <p:sldId id="722" r:id="rId51"/>
    <p:sldId id="758" r:id="rId52"/>
    <p:sldId id="759" r:id="rId53"/>
    <p:sldId id="761" r:id="rId54"/>
    <p:sldId id="762" r:id="rId55"/>
    <p:sldId id="760" r:id="rId56"/>
    <p:sldId id="763" r:id="rId57"/>
    <p:sldId id="764" r:id="rId58"/>
    <p:sldId id="766" r:id="rId59"/>
    <p:sldId id="765" r:id="rId60"/>
    <p:sldId id="767" r:id="rId61"/>
    <p:sldId id="769" r:id="rId62"/>
    <p:sldId id="768" r:id="rId63"/>
    <p:sldId id="777" r:id="rId64"/>
    <p:sldId id="780" r:id="rId65"/>
    <p:sldId id="778" r:id="rId66"/>
    <p:sldId id="779" r:id="rId67"/>
    <p:sldId id="713" r:id="rId68"/>
    <p:sldId id="712" r:id="rId69"/>
    <p:sldId id="714" r:id="rId70"/>
    <p:sldId id="708" r:id="rId71"/>
    <p:sldId id="323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9D9"/>
    <a:srgbClr val="B2B3AD"/>
    <a:srgbClr val="CDDFE5"/>
    <a:srgbClr val="E3E1B7"/>
    <a:srgbClr val="F0EFD9"/>
    <a:srgbClr val="EBEBD1"/>
    <a:srgbClr val="E2E4D4"/>
    <a:srgbClr val="EFFDFF"/>
    <a:srgbClr val="D4F9FE"/>
    <a:srgbClr val="9697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5" autoAdjust="0"/>
    <p:restoredTop sz="96649" autoAdjust="0"/>
  </p:normalViewPr>
  <p:slideViewPr>
    <p:cSldViewPr snapToGrid="0">
      <p:cViewPr varScale="1">
        <p:scale>
          <a:sx n="59" d="100"/>
          <a:sy n="59" d="100"/>
        </p:scale>
        <p:origin x="1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67043-1ED9-4280-B30D-13F4B4DE3247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4BD96-1AF7-4450-99A7-A00EE4A95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2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4689AE-CB4D-5E97-1D4C-63AB686A07C3}"/>
              </a:ext>
            </a:extLst>
          </p:cNvPr>
          <p:cNvSpPr/>
          <p:nvPr userDrawn="1"/>
        </p:nvSpPr>
        <p:spPr>
          <a:xfrm>
            <a:off x="0" y="-42532"/>
            <a:ext cx="12192000" cy="6900532"/>
          </a:xfrm>
          <a:prstGeom prst="rect">
            <a:avLst/>
          </a:prstGeom>
          <a:solidFill>
            <a:srgbClr val="E3E1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873A6-FC85-F129-0FF3-6D9468FF2A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8368" y="2469578"/>
            <a:ext cx="11073384" cy="1073839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CS302 –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6E857-2B66-8433-D469-E0F15F210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6515" y="4178110"/>
            <a:ext cx="1025956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AA29F4-108E-4774-317D-15F8F3E82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984" y="351116"/>
            <a:ext cx="1722032" cy="172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466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F40D-520F-F4CA-0576-5338E0573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77" y="118517"/>
            <a:ext cx="11825846" cy="689708"/>
          </a:xfrm>
          <a:custGeom>
            <a:avLst/>
            <a:gdLst>
              <a:gd name="csX0" fmla="*/ 0 w 11825846"/>
              <a:gd name="csY0" fmla="*/ 0 h 689708"/>
              <a:gd name="csX1" fmla="*/ 709551 w 11825846"/>
              <a:gd name="csY1" fmla="*/ 0 h 689708"/>
              <a:gd name="csX2" fmla="*/ 1300843 w 11825846"/>
              <a:gd name="csY2" fmla="*/ 0 h 689708"/>
              <a:gd name="csX3" fmla="*/ 1655618 w 11825846"/>
              <a:gd name="csY3" fmla="*/ 0 h 689708"/>
              <a:gd name="csX4" fmla="*/ 2128652 w 11825846"/>
              <a:gd name="csY4" fmla="*/ 0 h 689708"/>
              <a:gd name="csX5" fmla="*/ 2601686 w 11825846"/>
              <a:gd name="csY5" fmla="*/ 0 h 689708"/>
              <a:gd name="csX6" fmla="*/ 2838203 w 11825846"/>
              <a:gd name="csY6" fmla="*/ 0 h 689708"/>
              <a:gd name="csX7" fmla="*/ 3666012 w 11825846"/>
              <a:gd name="csY7" fmla="*/ 0 h 689708"/>
              <a:gd name="csX8" fmla="*/ 4020788 w 11825846"/>
              <a:gd name="csY8" fmla="*/ 0 h 689708"/>
              <a:gd name="csX9" fmla="*/ 4848597 w 11825846"/>
              <a:gd name="csY9" fmla="*/ 0 h 689708"/>
              <a:gd name="csX10" fmla="*/ 5439889 w 11825846"/>
              <a:gd name="csY10" fmla="*/ 0 h 689708"/>
              <a:gd name="csX11" fmla="*/ 6031181 w 11825846"/>
              <a:gd name="csY11" fmla="*/ 0 h 689708"/>
              <a:gd name="csX12" fmla="*/ 6504215 w 11825846"/>
              <a:gd name="csY12" fmla="*/ 0 h 689708"/>
              <a:gd name="csX13" fmla="*/ 7213766 w 11825846"/>
              <a:gd name="csY13" fmla="*/ 0 h 689708"/>
              <a:gd name="csX14" fmla="*/ 7450283 w 11825846"/>
              <a:gd name="csY14" fmla="*/ 0 h 689708"/>
              <a:gd name="csX15" fmla="*/ 8159834 w 11825846"/>
              <a:gd name="csY15" fmla="*/ 0 h 689708"/>
              <a:gd name="csX16" fmla="*/ 8751126 w 11825846"/>
              <a:gd name="csY16" fmla="*/ 0 h 689708"/>
              <a:gd name="csX17" fmla="*/ 9460677 w 11825846"/>
              <a:gd name="csY17" fmla="*/ 0 h 689708"/>
              <a:gd name="csX18" fmla="*/ 10051969 w 11825846"/>
              <a:gd name="csY18" fmla="*/ 0 h 689708"/>
              <a:gd name="csX19" fmla="*/ 10288486 w 11825846"/>
              <a:gd name="csY19" fmla="*/ 0 h 689708"/>
              <a:gd name="csX20" fmla="*/ 11116295 w 11825846"/>
              <a:gd name="csY20" fmla="*/ 0 h 689708"/>
              <a:gd name="csX21" fmla="*/ 11825846 w 11825846"/>
              <a:gd name="csY21" fmla="*/ 0 h 689708"/>
              <a:gd name="csX22" fmla="*/ 11825846 w 11825846"/>
              <a:gd name="csY22" fmla="*/ 344854 h 689708"/>
              <a:gd name="csX23" fmla="*/ 11825846 w 11825846"/>
              <a:gd name="csY23" fmla="*/ 689708 h 689708"/>
              <a:gd name="csX24" fmla="*/ 11471071 w 11825846"/>
              <a:gd name="csY24" fmla="*/ 689708 h 689708"/>
              <a:gd name="csX25" fmla="*/ 10761520 w 11825846"/>
              <a:gd name="csY25" fmla="*/ 689708 h 689708"/>
              <a:gd name="csX26" fmla="*/ 10288486 w 11825846"/>
              <a:gd name="csY26" fmla="*/ 689708 h 689708"/>
              <a:gd name="csX27" fmla="*/ 9578935 w 11825846"/>
              <a:gd name="csY27" fmla="*/ 689708 h 689708"/>
              <a:gd name="csX28" fmla="*/ 8751126 w 11825846"/>
              <a:gd name="csY28" fmla="*/ 689708 h 689708"/>
              <a:gd name="csX29" fmla="*/ 8278092 w 11825846"/>
              <a:gd name="csY29" fmla="*/ 689708 h 689708"/>
              <a:gd name="csX30" fmla="*/ 7450283 w 11825846"/>
              <a:gd name="csY30" fmla="*/ 689708 h 689708"/>
              <a:gd name="csX31" fmla="*/ 7095508 w 11825846"/>
              <a:gd name="csY31" fmla="*/ 689708 h 689708"/>
              <a:gd name="csX32" fmla="*/ 6858991 w 11825846"/>
              <a:gd name="csY32" fmla="*/ 689708 h 689708"/>
              <a:gd name="csX33" fmla="*/ 6149440 w 11825846"/>
              <a:gd name="csY33" fmla="*/ 689708 h 689708"/>
              <a:gd name="csX34" fmla="*/ 5558148 w 11825846"/>
              <a:gd name="csY34" fmla="*/ 689708 h 689708"/>
              <a:gd name="csX35" fmla="*/ 4848597 w 11825846"/>
              <a:gd name="csY35" fmla="*/ 689708 h 689708"/>
              <a:gd name="csX36" fmla="*/ 4139046 w 11825846"/>
              <a:gd name="csY36" fmla="*/ 689708 h 689708"/>
              <a:gd name="csX37" fmla="*/ 3311237 w 11825846"/>
              <a:gd name="csY37" fmla="*/ 689708 h 689708"/>
              <a:gd name="csX38" fmla="*/ 2838203 w 11825846"/>
              <a:gd name="csY38" fmla="*/ 689708 h 689708"/>
              <a:gd name="csX39" fmla="*/ 2483428 w 11825846"/>
              <a:gd name="csY39" fmla="*/ 689708 h 689708"/>
              <a:gd name="csX40" fmla="*/ 1892135 w 11825846"/>
              <a:gd name="csY40" fmla="*/ 689708 h 689708"/>
              <a:gd name="csX41" fmla="*/ 1064326 w 11825846"/>
              <a:gd name="csY41" fmla="*/ 689708 h 689708"/>
              <a:gd name="csX42" fmla="*/ 0 w 11825846"/>
              <a:gd name="csY42" fmla="*/ 689708 h 689708"/>
              <a:gd name="csX43" fmla="*/ 0 w 11825846"/>
              <a:gd name="csY43" fmla="*/ 351751 h 689708"/>
              <a:gd name="csX44" fmla="*/ 0 w 11825846"/>
              <a:gd name="csY44" fmla="*/ 0 h 689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825846" h="689708" fill="none" extrusionOk="0">
                <a:moveTo>
                  <a:pt x="0" y="0"/>
                </a:moveTo>
                <a:cubicBezTo>
                  <a:pt x="200495" y="-42868"/>
                  <a:pt x="514406" y="69875"/>
                  <a:pt x="709551" y="0"/>
                </a:cubicBezTo>
                <a:cubicBezTo>
                  <a:pt x="904696" y="-69875"/>
                  <a:pt x="1095903" y="49130"/>
                  <a:pt x="1300843" y="0"/>
                </a:cubicBezTo>
                <a:cubicBezTo>
                  <a:pt x="1505783" y="-49130"/>
                  <a:pt x="1578382" y="33563"/>
                  <a:pt x="1655618" y="0"/>
                </a:cubicBezTo>
                <a:cubicBezTo>
                  <a:pt x="1732855" y="-33563"/>
                  <a:pt x="1912509" y="55181"/>
                  <a:pt x="2128652" y="0"/>
                </a:cubicBezTo>
                <a:cubicBezTo>
                  <a:pt x="2344795" y="-55181"/>
                  <a:pt x="2467108" y="36029"/>
                  <a:pt x="2601686" y="0"/>
                </a:cubicBezTo>
                <a:cubicBezTo>
                  <a:pt x="2736264" y="-36029"/>
                  <a:pt x="2774476" y="25459"/>
                  <a:pt x="2838203" y="0"/>
                </a:cubicBezTo>
                <a:cubicBezTo>
                  <a:pt x="2901930" y="-25459"/>
                  <a:pt x="3375047" y="6336"/>
                  <a:pt x="3666012" y="0"/>
                </a:cubicBezTo>
                <a:cubicBezTo>
                  <a:pt x="3956977" y="-6336"/>
                  <a:pt x="3940567" y="26898"/>
                  <a:pt x="4020788" y="0"/>
                </a:cubicBezTo>
                <a:cubicBezTo>
                  <a:pt x="4101009" y="-26898"/>
                  <a:pt x="4509607" y="66994"/>
                  <a:pt x="4848597" y="0"/>
                </a:cubicBezTo>
                <a:cubicBezTo>
                  <a:pt x="5187587" y="-66994"/>
                  <a:pt x="5175608" y="14039"/>
                  <a:pt x="5439889" y="0"/>
                </a:cubicBezTo>
                <a:cubicBezTo>
                  <a:pt x="5704170" y="-14039"/>
                  <a:pt x="5797513" y="51278"/>
                  <a:pt x="6031181" y="0"/>
                </a:cubicBezTo>
                <a:cubicBezTo>
                  <a:pt x="6264849" y="-51278"/>
                  <a:pt x="6353888" y="50354"/>
                  <a:pt x="6504215" y="0"/>
                </a:cubicBezTo>
                <a:cubicBezTo>
                  <a:pt x="6654542" y="-50354"/>
                  <a:pt x="7070256" y="9799"/>
                  <a:pt x="7213766" y="0"/>
                </a:cubicBezTo>
                <a:cubicBezTo>
                  <a:pt x="7357276" y="-9799"/>
                  <a:pt x="7353607" y="10398"/>
                  <a:pt x="7450283" y="0"/>
                </a:cubicBezTo>
                <a:cubicBezTo>
                  <a:pt x="7546959" y="-10398"/>
                  <a:pt x="7865070" y="27393"/>
                  <a:pt x="8159834" y="0"/>
                </a:cubicBezTo>
                <a:cubicBezTo>
                  <a:pt x="8454598" y="-27393"/>
                  <a:pt x="8476103" y="24021"/>
                  <a:pt x="8751126" y="0"/>
                </a:cubicBezTo>
                <a:cubicBezTo>
                  <a:pt x="9026149" y="-24021"/>
                  <a:pt x="9214916" y="17871"/>
                  <a:pt x="9460677" y="0"/>
                </a:cubicBezTo>
                <a:cubicBezTo>
                  <a:pt x="9706438" y="-17871"/>
                  <a:pt x="9904455" y="30705"/>
                  <a:pt x="10051969" y="0"/>
                </a:cubicBezTo>
                <a:cubicBezTo>
                  <a:pt x="10199483" y="-30705"/>
                  <a:pt x="10230687" y="17944"/>
                  <a:pt x="10288486" y="0"/>
                </a:cubicBezTo>
                <a:cubicBezTo>
                  <a:pt x="10346285" y="-17944"/>
                  <a:pt x="10757540" y="73340"/>
                  <a:pt x="11116295" y="0"/>
                </a:cubicBezTo>
                <a:cubicBezTo>
                  <a:pt x="11475050" y="-73340"/>
                  <a:pt x="11667497" y="79638"/>
                  <a:pt x="11825846" y="0"/>
                </a:cubicBezTo>
                <a:cubicBezTo>
                  <a:pt x="11853818" y="117290"/>
                  <a:pt x="11809249" y="213364"/>
                  <a:pt x="11825846" y="344854"/>
                </a:cubicBezTo>
                <a:cubicBezTo>
                  <a:pt x="11842443" y="476344"/>
                  <a:pt x="11797099" y="576519"/>
                  <a:pt x="11825846" y="689708"/>
                </a:cubicBezTo>
                <a:cubicBezTo>
                  <a:pt x="11672839" y="725715"/>
                  <a:pt x="11629136" y="658875"/>
                  <a:pt x="11471071" y="689708"/>
                </a:cubicBezTo>
                <a:cubicBezTo>
                  <a:pt x="11313007" y="720541"/>
                  <a:pt x="11018388" y="629692"/>
                  <a:pt x="10761520" y="689708"/>
                </a:cubicBezTo>
                <a:cubicBezTo>
                  <a:pt x="10504652" y="749724"/>
                  <a:pt x="10445004" y="645349"/>
                  <a:pt x="10288486" y="689708"/>
                </a:cubicBezTo>
                <a:cubicBezTo>
                  <a:pt x="10131968" y="734067"/>
                  <a:pt x="9915328" y="641970"/>
                  <a:pt x="9578935" y="689708"/>
                </a:cubicBezTo>
                <a:cubicBezTo>
                  <a:pt x="9242542" y="737446"/>
                  <a:pt x="8964342" y="686174"/>
                  <a:pt x="8751126" y="689708"/>
                </a:cubicBezTo>
                <a:cubicBezTo>
                  <a:pt x="8537910" y="693242"/>
                  <a:pt x="8374167" y="672258"/>
                  <a:pt x="8278092" y="689708"/>
                </a:cubicBezTo>
                <a:cubicBezTo>
                  <a:pt x="8182017" y="707158"/>
                  <a:pt x="7759575" y="606195"/>
                  <a:pt x="7450283" y="689708"/>
                </a:cubicBezTo>
                <a:cubicBezTo>
                  <a:pt x="7140991" y="773221"/>
                  <a:pt x="7173267" y="685225"/>
                  <a:pt x="7095508" y="689708"/>
                </a:cubicBezTo>
                <a:cubicBezTo>
                  <a:pt x="7017749" y="694191"/>
                  <a:pt x="6929855" y="688076"/>
                  <a:pt x="6858991" y="689708"/>
                </a:cubicBezTo>
                <a:cubicBezTo>
                  <a:pt x="6788127" y="691340"/>
                  <a:pt x="6417084" y="638825"/>
                  <a:pt x="6149440" y="689708"/>
                </a:cubicBezTo>
                <a:cubicBezTo>
                  <a:pt x="5881796" y="740591"/>
                  <a:pt x="5715624" y="620667"/>
                  <a:pt x="5558148" y="689708"/>
                </a:cubicBezTo>
                <a:cubicBezTo>
                  <a:pt x="5400672" y="758749"/>
                  <a:pt x="5195430" y="661079"/>
                  <a:pt x="4848597" y="689708"/>
                </a:cubicBezTo>
                <a:cubicBezTo>
                  <a:pt x="4501764" y="718337"/>
                  <a:pt x="4304856" y="652172"/>
                  <a:pt x="4139046" y="689708"/>
                </a:cubicBezTo>
                <a:cubicBezTo>
                  <a:pt x="3973236" y="727244"/>
                  <a:pt x="3603562" y="639791"/>
                  <a:pt x="3311237" y="689708"/>
                </a:cubicBezTo>
                <a:cubicBezTo>
                  <a:pt x="3018912" y="739625"/>
                  <a:pt x="3017427" y="639840"/>
                  <a:pt x="2838203" y="689708"/>
                </a:cubicBezTo>
                <a:cubicBezTo>
                  <a:pt x="2658979" y="739576"/>
                  <a:pt x="2574717" y="654218"/>
                  <a:pt x="2483428" y="689708"/>
                </a:cubicBezTo>
                <a:cubicBezTo>
                  <a:pt x="2392139" y="725198"/>
                  <a:pt x="2076927" y="685998"/>
                  <a:pt x="1892135" y="689708"/>
                </a:cubicBezTo>
                <a:cubicBezTo>
                  <a:pt x="1707343" y="693418"/>
                  <a:pt x="1335299" y="651356"/>
                  <a:pt x="1064326" y="689708"/>
                </a:cubicBezTo>
                <a:cubicBezTo>
                  <a:pt x="793353" y="728060"/>
                  <a:pt x="233588" y="633039"/>
                  <a:pt x="0" y="689708"/>
                </a:cubicBezTo>
                <a:cubicBezTo>
                  <a:pt x="-16625" y="577499"/>
                  <a:pt x="14319" y="479568"/>
                  <a:pt x="0" y="351751"/>
                </a:cubicBezTo>
                <a:cubicBezTo>
                  <a:pt x="-14319" y="223934"/>
                  <a:pt x="31164" y="139314"/>
                  <a:pt x="0" y="0"/>
                </a:cubicBezTo>
                <a:close/>
              </a:path>
              <a:path w="11825846" h="689708" stroke="0" extrusionOk="0">
                <a:moveTo>
                  <a:pt x="0" y="0"/>
                </a:moveTo>
                <a:cubicBezTo>
                  <a:pt x="77164" y="-16497"/>
                  <a:pt x="183560" y="3298"/>
                  <a:pt x="236517" y="0"/>
                </a:cubicBezTo>
                <a:cubicBezTo>
                  <a:pt x="289474" y="-3298"/>
                  <a:pt x="617465" y="74380"/>
                  <a:pt x="946068" y="0"/>
                </a:cubicBezTo>
                <a:cubicBezTo>
                  <a:pt x="1274671" y="-74380"/>
                  <a:pt x="1389620" y="27215"/>
                  <a:pt x="1537360" y="0"/>
                </a:cubicBezTo>
                <a:cubicBezTo>
                  <a:pt x="1685100" y="-27215"/>
                  <a:pt x="1715785" y="15851"/>
                  <a:pt x="1773877" y="0"/>
                </a:cubicBezTo>
                <a:cubicBezTo>
                  <a:pt x="1831969" y="-15851"/>
                  <a:pt x="2027881" y="4675"/>
                  <a:pt x="2128652" y="0"/>
                </a:cubicBezTo>
                <a:cubicBezTo>
                  <a:pt x="2229424" y="-4675"/>
                  <a:pt x="2597428" y="85705"/>
                  <a:pt x="2956462" y="0"/>
                </a:cubicBezTo>
                <a:cubicBezTo>
                  <a:pt x="3315496" y="-85705"/>
                  <a:pt x="3214440" y="2333"/>
                  <a:pt x="3429495" y="0"/>
                </a:cubicBezTo>
                <a:cubicBezTo>
                  <a:pt x="3644550" y="-2333"/>
                  <a:pt x="3951104" y="84153"/>
                  <a:pt x="4139046" y="0"/>
                </a:cubicBezTo>
                <a:cubicBezTo>
                  <a:pt x="4326988" y="-84153"/>
                  <a:pt x="4498083" y="55612"/>
                  <a:pt x="4612080" y="0"/>
                </a:cubicBezTo>
                <a:cubicBezTo>
                  <a:pt x="4726077" y="-55612"/>
                  <a:pt x="4774251" y="1424"/>
                  <a:pt x="4848597" y="0"/>
                </a:cubicBezTo>
                <a:cubicBezTo>
                  <a:pt x="4922943" y="-1424"/>
                  <a:pt x="5062746" y="1598"/>
                  <a:pt x="5203372" y="0"/>
                </a:cubicBezTo>
                <a:cubicBezTo>
                  <a:pt x="5343999" y="-1598"/>
                  <a:pt x="5357795" y="17094"/>
                  <a:pt x="5439889" y="0"/>
                </a:cubicBezTo>
                <a:cubicBezTo>
                  <a:pt x="5521983" y="-17094"/>
                  <a:pt x="5693312" y="24139"/>
                  <a:pt x="5794665" y="0"/>
                </a:cubicBezTo>
                <a:cubicBezTo>
                  <a:pt x="5896018" y="-24139"/>
                  <a:pt x="6210350" y="18924"/>
                  <a:pt x="6622474" y="0"/>
                </a:cubicBezTo>
                <a:cubicBezTo>
                  <a:pt x="7034598" y="-18924"/>
                  <a:pt x="6913017" y="5955"/>
                  <a:pt x="7095508" y="0"/>
                </a:cubicBezTo>
                <a:cubicBezTo>
                  <a:pt x="7277999" y="-5955"/>
                  <a:pt x="7355085" y="4405"/>
                  <a:pt x="7568541" y="0"/>
                </a:cubicBezTo>
                <a:cubicBezTo>
                  <a:pt x="7781997" y="-4405"/>
                  <a:pt x="8008822" y="59895"/>
                  <a:pt x="8159834" y="0"/>
                </a:cubicBezTo>
                <a:cubicBezTo>
                  <a:pt x="8310846" y="-59895"/>
                  <a:pt x="8458740" y="19789"/>
                  <a:pt x="8751126" y="0"/>
                </a:cubicBezTo>
                <a:cubicBezTo>
                  <a:pt x="9043512" y="-19789"/>
                  <a:pt x="9043810" y="37044"/>
                  <a:pt x="9224160" y="0"/>
                </a:cubicBezTo>
                <a:cubicBezTo>
                  <a:pt x="9404510" y="-37044"/>
                  <a:pt x="9356029" y="11518"/>
                  <a:pt x="9460677" y="0"/>
                </a:cubicBezTo>
                <a:cubicBezTo>
                  <a:pt x="9565325" y="-11518"/>
                  <a:pt x="9956086" y="21594"/>
                  <a:pt x="10288486" y="0"/>
                </a:cubicBezTo>
                <a:cubicBezTo>
                  <a:pt x="10620886" y="-21594"/>
                  <a:pt x="10642693" y="1702"/>
                  <a:pt x="10879778" y="0"/>
                </a:cubicBezTo>
                <a:cubicBezTo>
                  <a:pt x="11116863" y="-1702"/>
                  <a:pt x="11138463" y="30545"/>
                  <a:pt x="11234554" y="0"/>
                </a:cubicBezTo>
                <a:cubicBezTo>
                  <a:pt x="11330645" y="-30545"/>
                  <a:pt x="11622002" y="20556"/>
                  <a:pt x="11825846" y="0"/>
                </a:cubicBezTo>
                <a:cubicBezTo>
                  <a:pt x="11827588" y="68339"/>
                  <a:pt x="11805512" y="258862"/>
                  <a:pt x="11825846" y="337957"/>
                </a:cubicBezTo>
                <a:cubicBezTo>
                  <a:pt x="11846180" y="417052"/>
                  <a:pt x="11813072" y="520079"/>
                  <a:pt x="11825846" y="689708"/>
                </a:cubicBezTo>
                <a:cubicBezTo>
                  <a:pt x="11506370" y="702812"/>
                  <a:pt x="11384999" y="617320"/>
                  <a:pt x="11116295" y="689708"/>
                </a:cubicBezTo>
                <a:cubicBezTo>
                  <a:pt x="10847591" y="762096"/>
                  <a:pt x="10994427" y="665509"/>
                  <a:pt x="10879778" y="689708"/>
                </a:cubicBezTo>
                <a:cubicBezTo>
                  <a:pt x="10765129" y="713907"/>
                  <a:pt x="10448999" y="643097"/>
                  <a:pt x="10051969" y="689708"/>
                </a:cubicBezTo>
                <a:cubicBezTo>
                  <a:pt x="9654939" y="736319"/>
                  <a:pt x="9494551" y="604799"/>
                  <a:pt x="9224160" y="689708"/>
                </a:cubicBezTo>
                <a:cubicBezTo>
                  <a:pt x="8953769" y="774617"/>
                  <a:pt x="8983030" y="687028"/>
                  <a:pt x="8869385" y="689708"/>
                </a:cubicBezTo>
                <a:cubicBezTo>
                  <a:pt x="8755741" y="692388"/>
                  <a:pt x="8516184" y="650003"/>
                  <a:pt x="8396351" y="689708"/>
                </a:cubicBezTo>
                <a:cubicBezTo>
                  <a:pt x="8276518" y="729413"/>
                  <a:pt x="7884357" y="683518"/>
                  <a:pt x="7686800" y="689708"/>
                </a:cubicBezTo>
                <a:cubicBezTo>
                  <a:pt x="7489243" y="695898"/>
                  <a:pt x="7358176" y="673080"/>
                  <a:pt x="7213766" y="689708"/>
                </a:cubicBezTo>
                <a:cubicBezTo>
                  <a:pt x="7069356" y="706336"/>
                  <a:pt x="7082488" y="689699"/>
                  <a:pt x="6977249" y="689708"/>
                </a:cubicBezTo>
                <a:cubicBezTo>
                  <a:pt x="6872010" y="689717"/>
                  <a:pt x="6766746" y="688919"/>
                  <a:pt x="6622474" y="689708"/>
                </a:cubicBezTo>
                <a:cubicBezTo>
                  <a:pt x="6478203" y="690497"/>
                  <a:pt x="6082931" y="644574"/>
                  <a:pt x="5912923" y="689708"/>
                </a:cubicBezTo>
                <a:cubicBezTo>
                  <a:pt x="5742915" y="734842"/>
                  <a:pt x="5603251" y="683617"/>
                  <a:pt x="5439889" y="689708"/>
                </a:cubicBezTo>
                <a:cubicBezTo>
                  <a:pt x="5276527" y="695799"/>
                  <a:pt x="5278959" y="679121"/>
                  <a:pt x="5203372" y="689708"/>
                </a:cubicBezTo>
                <a:cubicBezTo>
                  <a:pt x="5127785" y="700295"/>
                  <a:pt x="4921507" y="676373"/>
                  <a:pt x="4730338" y="689708"/>
                </a:cubicBezTo>
                <a:cubicBezTo>
                  <a:pt x="4539169" y="703043"/>
                  <a:pt x="4262951" y="664661"/>
                  <a:pt x="4139046" y="689708"/>
                </a:cubicBezTo>
                <a:cubicBezTo>
                  <a:pt x="4015141" y="714755"/>
                  <a:pt x="3710596" y="670785"/>
                  <a:pt x="3547754" y="689708"/>
                </a:cubicBezTo>
                <a:cubicBezTo>
                  <a:pt x="3384912" y="708631"/>
                  <a:pt x="3217734" y="667684"/>
                  <a:pt x="3074720" y="689708"/>
                </a:cubicBezTo>
                <a:cubicBezTo>
                  <a:pt x="2931706" y="711732"/>
                  <a:pt x="2800116" y="689319"/>
                  <a:pt x="2601686" y="689708"/>
                </a:cubicBezTo>
                <a:cubicBezTo>
                  <a:pt x="2403256" y="690097"/>
                  <a:pt x="2467403" y="687826"/>
                  <a:pt x="2365169" y="689708"/>
                </a:cubicBezTo>
                <a:cubicBezTo>
                  <a:pt x="2262935" y="691590"/>
                  <a:pt x="1725206" y="620354"/>
                  <a:pt x="1537360" y="689708"/>
                </a:cubicBezTo>
                <a:cubicBezTo>
                  <a:pt x="1349514" y="759062"/>
                  <a:pt x="1280846" y="665813"/>
                  <a:pt x="1064326" y="689708"/>
                </a:cubicBezTo>
                <a:cubicBezTo>
                  <a:pt x="847806" y="713603"/>
                  <a:pt x="261187" y="669809"/>
                  <a:pt x="0" y="689708"/>
                </a:cubicBezTo>
                <a:cubicBezTo>
                  <a:pt x="-28573" y="610741"/>
                  <a:pt x="1806" y="523436"/>
                  <a:pt x="0" y="365545"/>
                </a:cubicBezTo>
                <a:cubicBezTo>
                  <a:pt x="-1806" y="207654"/>
                  <a:pt x="2224" y="122017"/>
                  <a:pt x="0" y="0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27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41750698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>
              <a:defRPr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DA2AB-11BE-1B22-FF80-605EED1A1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960121"/>
            <a:ext cx="11856523" cy="5733642"/>
          </a:xfrm>
        </p:spPr>
        <p:txBody>
          <a:bodyPr/>
          <a:lstStyle>
            <a:lvl1pPr algn="just"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algn="just"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2pPr>
            <a:lvl3pPr algn="just"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3pPr>
            <a:lvl4pPr algn="just"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4pPr>
            <a:lvl5pPr algn="just"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17B780-5025-987F-3DC3-184DB53C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45378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5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390B-285F-2C66-D3FE-5B823F0A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68575"/>
            <a:ext cx="10515600" cy="1727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7D06B-72EC-43BE-409D-39B6E53EB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62451"/>
            <a:ext cx="10515600" cy="17272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F5279-CD73-19B5-AEA6-B78C3CC5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98361-67DD-1707-8440-2ECD85F01A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554" y="523912"/>
            <a:ext cx="1804892" cy="18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8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74FB-C9E5-C168-20A6-B3138D43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2E0BE-046F-1656-A145-BBACA25D7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C35C7-5AD0-4BB9-3A77-57B8F6E98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E76BB-C4E6-01DD-0010-DFAB60E0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155BA-6C21-6D44-D931-86BD255FEB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9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54BE-9621-56F0-9219-A17957FD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43CC7-D7C2-023B-1C8F-090430ACA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24881-EEE8-DDD3-EDE0-54CB2733B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64512-393A-A3D4-FBDE-1188EEFE4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3AABB-DAFA-7136-A2A0-006C345DB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6C1CE-5C88-9011-ACE6-158D2F0C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C0D66-B5E9-C6AD-EA77-082BD6D5DB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6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E0DF-359C-3772-3B71-EFDA2F53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212C9-60ED-12F0-F460-F845501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5B4BAC-BCEB-BBCA-0A5F-25EFD4F3A5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C46D-2B95-949D-3D28-C145FC36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5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4F23-B588-F794-09EC-A2398E2B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56CA-F0FE-7F30-B301-68E86B42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5B6BF-FC9D-7271-45F2-8A2CDC471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51AB9-EA21-649F-D191-F1AC7A87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9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EF64-BD0E-7FFD-41EF-96D6A291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307B4-313F-A6E9-69DA-57E1B9E03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F3271-8CA8-9B7C-8ED5-D3E0D8F23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F880D-EF92-559D-6033-0C6E972C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6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8D9B-387D-38BF-CFF6-74C54DBC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FC8C8-5343-9FD0-1205-5ED3586D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01AF-A25D-1B2E-85CC-A8223D7F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F6999-1A20-3F30-1A01-EF7DEE430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1003C-3203-B1B0-D7FA-247447BB0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57813-20CF-6AD1-51DD-95ACB0B1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6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27C1B2-D306-5234-FCB6-417DA2E74BB8}"/>
              </a:ext>
            </a:extLst>
          </p:cNvPr>
          <p:cNvSpPr/>
          <p:nvPr userDrawn="1"/>
        </p:nvSpPr>
        <p:spPr>
          <a:xfrm>
            <a:off x="0" y="6366"/>
            <a:ext cx="12188949" cy="6883533"/>
          </a:xfrm>
          <a:prstGeom prst="rect">
            <a:avLst/>
          </a:prstGeom>
          <a:gradFill flip="none" rotWithShape="1">
            <a:gsLst>
              <a:gs pos="0">
                <a:srgbClr val="CDDFE5">
                  <a:alpha val="91000"/>
                </a:srgbClr>
              </a:gs>
              <a:gs pos="30000">
                <a:srgbClr val="FBF9D9">
                  <a:alpha val="90000"/>
                </a:srgbClr>
              </a:gs>
              <a:gs pos="100000">
                <a:srgbClr val="F0EFD9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389EA-4E88-4DB2-DE6D-8FD6A4839D49}"/>
              </a:ext>
            </a:extLst>
          </p:cNvPr>
          <p:cNvSpPr/>
          <p:nvPr userDrawn="1"/>
        </p:nvSpPr>
        <p:spPr>
          <a:xfrm>
            <a:off x="10633" y="-12512"/>
            <a:ext cx="12192000" cy="905228"/>
          </a:xfrm>
          <a:prstGeom prst="rect">
            <a:avLst/>
          </a:prstGeom>
          <a:gradFill>
            <a:gsLst>
              <a:gs pos="0">
                <a:srgbClr val="EBEBD1"/>
              </a:gs>
              <a:gs pos="30000">
                <a:srgbClr val="FBF9D9"/>
              </a:gs>
              <a:gs pos="100000">
                <a:srgbClr val="F0EFD9"/>
              </a:gs>
            </a:gsLst>
            <a:lin ang="10800000" scaled="1"/>
          </a:gra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68E77-43C7-C229-9E42-88482BF4F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C85BD5-EE8B-11F4-28D8-9421929526E2}"/>
              </a:ext>
            </a:extLst>
          </p:cNvPr>
          <p:cNvSpPr/>
          <p:nvPr userDrawn="1"/>
        </p:nvSpPr>
        <p:spPr>
          <a:xfrm>
            <a:off x="11461072" y="6459624"/>
            <a:ext cx="621437" cy="365125"/>
          </a:xfrm>
          <a:prstGeom prst="rect">
            <a:avLst/>
          </a:prstGeom>
          <a:solidFill>
            <a:srgbClr val="E3E1B7"/>
          </a:solidFill>
        </p:spPr>
        <p:txBody>
          <a:bodyPr/>
          <a:lstStyle/>
          <a:p>
            <a:pPr lvl="0"/>
            <a:endParaRPr lang="en-US" sz="1600" b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90BF7-2D25-BFDB-733C-742A7A37279C}"/>
              </a:ext>
            </a:extLst>
          </p:cNvPr>
          <p:cNvSpPr/>
          <p:nvPr userDrawn="1"/>
        </p:nvSpPr>
        <p:spPr>
          <a:xfrm>
            <a:off x="0" y="6366"/>
            <a:ext cx="264741" cy="6870684"/>
          </a:xfrm>
          <a:prstGeom prst="rect">
            <a:avLst/>
          </a:prstGeom>
          <a:gradFill>
            <a:gsLst>
              <a:gs pos="0">
                <a:srgbClr val="F0EFD9"/>
              </a:gs>
              <a:gs pos="66000">
                <a:srgbClr val="FBF9D9"/>
              </a:gs>
              <a:gs pos="100000">
                <a:srgbClr val="EBE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8CC72BD-F9D4-1C23-2FA6-E96748298632}"/>
              </a:ext>
            </a:extLst>
          </p:cNvPr>
          <p:cNvSpPr txBox="1">
            <a:spLocks/>
          </p:cNvSpPr>
          <p:nvPr userDrawn="1"/>
        </p:nvSpPr>
        <p:spPr>
          <a:xfrm>
            <a:off x="0" y="6464095"/>
            <a:ext cx="2183907" cy="365125"/>
          </a:xfrm>
          <a:prstGeom prst="rect">
            <a:avLst/>
          </a:prstGeom>
          <a:solidFill>
            <a:srgbClr val="E3E1B7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Artificial Intelligence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0F9B76-8E9D-77D0-5516-D841DE795BB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90" b="8870"/>
          <a:stretch>
            <a:fillRect/>
          </a:stretch>
        </p:blipFill>
        <p:spPr>
          <a:xfrm>
            <a:off x="0" y="0"/>
            <a:ext cx="12202634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CBC0-7F92-F92F-3AA1-0BDB8B916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92" y="994521"/>
            <a:ext cx="11844331" cy="569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</a:t>
            </a:r>
            <a:r>
              <a:rPr lang="en-US" dirty="0" err="1"/>
              <a:t>fksdfkljaslkfjlkasjflkajslfkjalskf</a:t>
            </a:r>
            <a:r>
              <a:rPr lang="en-US" dirty="0"/>
              <a:t> </a:t>
            </a:r>
            <a:r>
              <a:rPr lang="en-US" dirty="0" err="1"/>
              <a:t>jas</a:t>
            </a:r>
            <a:r>
              <a:rPr lang="en-US" dirty="0"/>
              <a:t> </a:t>
            </a:r>
            <a:r>
              <a:rPr lang="en-US" dirty="0" err="1"/>
              <a:t>fkljasl</a:t>
            </a:r>
            <a:r>
              <a:rPr lang="en-US" dirty="0"/>
              <a:t> </a:t>
            </a:r>
            <a:r>
              <a:rPr lang="en-US" dirty="0" err="1"/>
              <a:t>fjlas</a:t>
            </a:r>
            <a:r>
              <a:rPr lang="en-US" dirty="0"/>
              <a:t> </a:t>
            </a:r>
            <a:r>
              <a:rPr lang="en-US" dirty="0" err="1"/>
              <a:t>flkajsfjjaslfjalskfjlasjflsajlfjaslfjl</a:t>
            </a:r>
            <a:endParaRPr lang="en-US" dirty="0"/>
          </a:p>
          <a:p>
            <a:pPr lvl="0"/>
            <a:r>
              <a:rPr lang="en-US" dirty="0"/>
              <a:t>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1503D-3365-9FDA-1D27-9F09309E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47830"/>
            <a:ext cx="11844331" cy="873330"/>
          </a:xfrm>
          <a:custGeom>
            <a:avLst/>
            <a:gdLst>
              <a:gd name="csX0" fmla="*/ 0 w 11844331"/>
              <a:gd name="csY0" fmla="*/ 0 h 873330"/>
              <a:gd name="csX1" fmla="*/ 592217 w 11844331"/>
              <a:gd name="csY1" fmla="*/ 0 h 873330"/>
              <a:gd name="csX2" fmla="*/ 1184433 w 11844331"/>
              <a:gd name="csY2" fmla="*/ 0 h 873330"/>
              <a:gd name="csX3" fmla="*/ 2013536 w 11844331"/>
              <a:gd name="csY3" fmla="*/ 0 h 873330"/>
              <a:gd name="csX4" fmla="*/ 2724196 w 11844331"/>
              <a:gd name="csY4" fmla="*/ 0 h 873330"/>
              <a:gd name="csX5" fmla="*/ 3434856 w 11844331"/>
              <a:gd name="csY5" fmla="*/ 0 h 873330"/>
              <a:gd name="csX6" fmla="*/ 3790186 w 11844331"/>
              <a:gd name="csY6" fmla="*/ 0 h 873330"/>
              <a:gd name="csX7" fmla="*/ 4145516 w 11844331"/>
              <a:gd name="csY7" fmla="*/ 0 h 873330"/>
              <a:gd name="csX8" fmla="*/ 4856176 w 11844331"/>
              <a:gd name="csY8" fmla="*/ 0 h 873330"/>
              <a:gd name="csX9" fmla="*/ 5329949 w 11844331"/>
              <a:gd name="csY9" fmla="*/ 0 h 873330"/>
              <a:gd name="csX10" fmla="*/ 5685279 w 11844331"/>
              <a:gd name="csY10" fmla="*/ 0 h 873330"/>
              <a:gd name="csX11" fmla="*/ 6159052 w 11844331"/>
              <a:gd name="csY11" fmla="*/ 0 h 873330"/>
              <a:gd name="csX12" fmla="*/ 6632825 w 11844331"/>
              <a:gd name="csY12" fmla="*/ 0 h 873330"/>
              <a:gd name="csX13" fmla="*/ 7343485 w 11844331"/>
              <a:gd name="csY13" fmla="*/ 0 h 873330"/>
              <a:gd name="csX14" fmla="*/ 7580372 w 11844331"/>
              <a:gd name="csY14" fmla="*/ 0 h 873330"/>
              <a:gd name="csX15" fmla="*/ 8172588 w 11844331"/>
              <a:gd name="csY15" fmla="*/ 0 h 873330"/>
              <a:gd name="csX16" fmla="*/ 8883248 w 11844331"/>
              <a:gd name="csY16" fmla="*/ 0 h 873330"/>
              <a:gd name="csX17" fmla="*/ 9120135 w 11844331"/>
              <a:gd name="csY17" fmla="*/ 0 h 873330"/>
              <a:gd name="csX18" fmla="*/ 9593908 w 11844331"/>
              <a:gd name="csY18" fmla="*/ 0 h 873330"/>
              <a:gd name="csX19" fmla="*/ 10304568 w 11844331"/>
              <a:gd name="csY19" fmla="*/ 0 h 873330"/>
              <a:gd name="csX20" fmla="*/ 11015228 w 11844331"/>
              <a:gd name="csY20" fmla="*/ 0 h 873330"/>
              <a:gd name="csX21" fmla="*/ 11844331 w 11844331"/>
              <a:gd name="csY21" fmla="*/ 0 h 873330"/>
              <a:gd name="csX22" fmla="*/ 11844331 w 11844331"/>
              <a:gd name="csY22" fmla="*/ 427932 h 873330"/>
              <a:gd name="csX23" fmla="*/ 11844331 w 11844331"/>
              <a:gd name="csY23" fmla="*/ 873330 h 873330"/>
              <a:gd name="csX24" fmla="*/ 11607444 w 11844331"/>
              <a:gd name="csY24" fmla="*/ 873330 h 873330"/>
              <a:gd name="csX25" fmla="*/ 11015228 w 11844331"/>
              <a:gd name="csY25" fmla="*/ 873330 h 873330"/>
              <a:gd name="csX26" fmla="*/ 10304568 w 11844331"/>
              <a:gd name="csY26" fmla="*/ 873330 h 873330"/>
              <a:gd name="csX27" fmla="*/ 9475465 w 11844331"/>
              <a:gd name="csY27" fmla="*/ 873330 h 873330"/>
              <a:gd name="csX28" fmla="*/ 8883248 w 11844331"/>
              <a:gd name="csY28" fmla="*/ 873330 h 873330"/>
              <a:gd name="csX29" fmla="*/ 8646362 w 11844331"/>
              <a:gd name="csY29" fmla="*/ 873330 h 873330"/>
              <a:gd name="csX30" fmla="*/ 8172588 w 11844331"/>
              <a:gd name="csY30" fmla="*/ 873330 h 873330"/>
              <a:gd name="csX31" fmla="*/ 7343485 w 11844331"/>
              <a:gd name="csY31" fmla="*/ 873330 h 873330"/>
              <a:gd name="csX32" fmla="*/ 6632825 w 11844331"/>
              <a:gd name="csY32" fmla="*/ 873330 h 873330"/>
              <a:gd name="csX33" fmla="*/ 6395939 w 11844331"/>
              <a:gd name="csY33" fmla="*/ 873330 h 873330"/>
              <a:gd name="csX34" fmla="*/ 5922166 w 11844331"/>
              <a:gd name="csY34" fmla="*/ 873330 h 873330"/>
              <a:gd name="csX35" fmla="*/ 5448392 w 11844331"/>
              <a:gd name="csY35" fmla="*/ 873330 h 873330"/>
              <a:gd name="csX36" fmla="*/ 4856176 w 11844331"/>
              <a:gd name="csY36" fmla="*/ 873330 h 873330"/>
              <a:gd name="csX37" fmla="*/ 4263959 w 11844331"/>
              <a:gd name="csY37" fmla="*/ 873330 h 873330"/>
              <a:gd name="csX38" fmla="*/ 3434856 w 11844331"/>
              <a:gd name="csY38" fmla="*/ 873330 h 873330"/>
              <a:gd name="csX39" fmla="*/ 2842639 w 11844331"/>
              <a:gd name="csY39" fmla="*/ 873330 h 873330"/>
              <a:gd name="csX40" fmla="*/ 2605753 w 11844331"/>
              <a:gd name="csY40" fmla="*/ 873330 h 873330"/>
              <a:gd name="csX41" fmla="*/ 2131980 w 11844331"/>
              <a:gd name="csY41" fmla="*/ 873330 h 873330"/>
              <a:gd name="csX42" fmla="*/ 1776650 w 11844331"/>
              <a:gd name="csY42" fmla="*/ 873330 h 873330"/>
              <a:gd name="csX43" fmla="*/ 1539763 w 11844331"/>
              <a:gd name="csY43" fmla="*/ 873330 h 873330"/>
              <a:gd name="csX44" fmla="*/ 1302876 w 11844331"/>
              <a:gd name="csY44" fmla="*/ 873330 h 873330"/>
              <a:gd name="csX45" fmla="*/ 947546 w 11844331"/>
              <a:gd name="csY45" fmla="*/ 873330 h 873330"/>
              <a:gd name="csX46" fmla="*/ 0 w 11844331"/>
              <a:gd name="csY46" fmla="*/ 873330 h 873330"/>
              <a:gd name="csX47" fmla="*/ 0 w 11844331"/>
              <a:gd name="csY47" fmla="*/ 445398 h 873330"/>
              <a:gd name="csX48" fmla="*/ 0 w 11844331"/>
              <a:gd name="csY48" fmla="*/ 0 h 87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844331" h="873330" fill="none" extrusionOk="0">
                <a:moveTo>
                  <a:pt x="0" y="0"/>
                </a:moveTo>
                <a:cubicBezTo>
                  <a:pt x="270927" y="-19824"/>
                  <a:pt x="427695" y="59442"/>
                  <a:pt x="592217" y="0"/>
                </a:cubicBezTo>
                <a:cubicBezTo>
                  <a:pt x="756739" y="-59442"/>
                  <a:pt x="940537" y="37335"/>
                  <a:pt x="1184433" y="0"/>
                </a:cubicBezTo>
                <a:cubicBezTo>
                  <a:pt x="1428329" y="-37335"/>
                  <a:pt x="1731061" y="51534"/>
                  <a:pt x="2013536" y="0"/>
                </a:cubicBezTo>
                <a:cubicBezTo>
                  <a:pt x="2296011" y="-51534"/>
                  <a:pt x="2541533" y="77861"/>
                  <a:pt x="2724196" y="0"/>
                </a:cubicBezTo>
                <a:cubicBezTo>
                  <a:pt x="2906859" y="-77861"/>
                  <a:pt x="3152934" y="5579"/>
                  <a:pt x="3434856" y="0"/>
                </a:cubicBezTo>
                <a:cubicBezTo>
                  <a:pt x="3716778" y="-5579"/>
                  <a:pt x="3673575" y="33245"/>
                  <a:pt x="3790186" y="0"/>
                </a:cubicBezTo>
                <a:cubicBezTo>
                  <a:pt x="3906797" y="-33245"/>
                  <a:pt x="4013296" y="23989"/>
                  <a:pt x="4145516" y="0"/>
                </a:cubicBezTo>
                <a:cubicBezTo>
                  <a:pt x="4277736" y="-23989"/>
                  <a:pt x="4558617" y="43552"/>
                  <a:pt x="4856176" y="0"/>
                </a:cubicBezTo>
                <a:cubicBezTo>
                  <a:pt x="5153735" y="-43552"/>
                  <a:pt x="5121499" y="38721"/>
                  <a:pt x="5329949" y="0"/>
                </a:cubicBezTo>
                <a:cubicBezTo>
                  <a:pt x="5538399" y="-38721"/>
                  <a:pt x="5543269" y="13403"/>
                  <a:pt x="5685279" y="0"/>
                </a:cubicBezTo>
                <a:cubicBezTo>
                  <a:pt x="5827289" y="-13403"/>
                  <a:pt x="6018131" y="18960"/>
                  <a:pt x="6159052" y="0"/>
                </a:cubicBezTo>
                <a:cubicBezTo>
                  <a:pt x="6299973" y="-18960"/>
                  <a:pt x="6478077" y="19919"/>
                  <a:pt x="6632825" y="0"/>
                </a:cubicBezTo>
                <a:cubicBezTo>
                  <a:pt x="6787573" y="-19919"/>
                  <a:pt x="7193235" y="77165"/>
                  <a:pt x="7343485" y="0"/>
                </a:cubicBezTo>
                <a:cubicBezTo>
                  <a:pt x="7493735" y="-77165"/>
                  <a:pt x="7491739" y="21635"/>
                  <a:pt x="7580372" y="0"/>
                </a:cubicBezTo>
                <a:cubicBezTo>
                  <a:pt x="7669005" y="-21635"/>
                  <a:pt x="7973931" y="63615"/>
                  <a:pt x="8172588" y="0"/>
                </a:cubicBezTo>
                <a:cubicBezTo>
                  <a:pt x="8371245" y="-63615"/>
                  <a:pt x="8579842" y="28313"/>
                  <a:pt x="8883248" y="0"/>
                </a:cubicBezTo>
                <a:cubicBezTo>
                  <a:pt x="9186654" y="-28313"/>
                  <a:pt x="9040187" y="19746"/>
                  <a:pt x="9120135" y="0"/>
                </a:cubicBezTo>
                <a:cubicBezTo>
                  <a:pt x="9200083" y="-19746"/>
                  <a:pt x="9468577" y="5640"/>
                  <a:pt x="9593908" y="0"/>
                </a:cubicBezTo>
                <a:cubicBezTo>
                  <a:pt x="9719239" y="-5640"/>
                  <a:pt x="10152564" y="3303"/>
                  <a:pt x="10304568" y="0"/>
                </a:cubicBezTo>
                <a:cubicBezTo>
                  <a:pt x="10456572" y="-3303"/>
                  <a:pt x="10860432" y="8536"/>
                  <a:pt x="11015228" y="0"/>
                </a:cubicBezTo>
                <a:cubicBezTo>
                  <a:pt x="11170024" y="-8536"/>
                  <a:pt x="11519540" y="37311"/>
                  <a:pt x="11844331" y="0"/>
                </a:cubicBezTo>
                <a:cubicBezTo>
                  <a:pt x="11874443" y="121750"/>
                  <a:pt x="11802629" y="296030"/>
                  <a:pt x="11844331" y="427932"/>
                </a:cubicBezTo>
                <a:cubicBezTo>
                  <a:pt x="11886033" y="559834"/>
                  <a:pt x="11826103" y="679853"/>
                  <a:pt x="11844331" y="873330"/>
                </a:cubicBezTo>
                <a:cubicBezTo>
                  <a:pt x="11727743" y="880429"/>
                  <a:pt x="11684127" y="858728"/>
                  <a:pt x="11607444" y="873330"/>
                </a:cubicBezTo>
                <a:cubicBezTo>
                  <a:pt x="11530761" y="887932"/>
                  <a:pt x="11273180" y="826752"/>
                  <a:pt x="11015228" y="873330"/>
                </a:cubicBezTo>
                <a:cubicBezTo>
                  <a:pt x="10757276" y="919908"/>
                  <a:pt x="10644079" y="857736"/>
                  <a:pt x="10304568" y="873330"/>
                </a:cubicBezTo>
                <a:cubicBezTo>
                  <a:pt x="9965057" y="888924"/>
                  <a:pt x="9705206" y="788991"/>
                  <a:pt x="9475465" y="873330"/>
                </a:cubicBezTo>
                <a:cubicBezTo>
                  <a:pt x="9245724" y="957669"/>
                  <a:pt x="9103534" y="855173"/>
                  <a:pt x="8883248" y="873330"/>
                </a:cubicBezTo>
                <a:cubicBezTo>
                  <a:pt x="8662962" y="891487"/>
                  <a:pt x="8715935" y="853082"/>
                  <a:pt x="8646362" y="873330"/>
                </a:cubicBezTo>
                <a:cubicBezTo>
                  <a:pt x="8576789" y="893578"/>
                  <a:pt x="8277414" y="855044"/>
                  <a:pt x="8172588" y="873330"/>
                </a:cubicBezTo>
                <a:cubicBezTo>
                  <a:pt x="8067762" y="891616"/>
                  <a:pt x="7708384" y="817930"/>
                  <a:pt x="7343485" y="873330"/>
                </a:cubicBezTo>
                <a:cubicBezTo>
                  <a:pt x="6978586" y="928730"/>
                  <a:pt x="6987287" y="873041"/>
                  <a:pt x="6632825" y="873330"/>
                </a:cubicBezTo>
                <a:cubicBezTo>
                  <a:pt x="6278363" y="873619"/>
                  <a:pt x="6501548" y="859538"/>
                  <a:pt x="6395939" y="873330"/>
                </a:cubicBezTo>
                <a:cubicBezTo>
                  <a:pt x="6290330" y="887122"/>
                  <a:pt x="6132219" y="831180"/>
                  <a:pt x="5922166" y="873330"/>
                </a:cubicBezTo>
                <a:cubicBezTo>
                  <a:pt x="5712113" y="915480"/>
                  <a:pt x="5675734" y="853549"/>
                  <a:pt x="5448392" y="873330"/>
                </a:cubicBezTo>
                <a:cubicBezTo>
                  <a:pt x="5221050" y="893111"/>
                  <a:pt x="5122986" y="873232"/>
                  <a:pt x="4856176" y="873330"/>
                </a:cubicBezTo>
                <a:cubicBezTo>
                  <a:pt x="4589366" y="873428"/>
                  <a:pt x="4521253" y="866961"/>
                  <a:pt x="4263959" y="873330"/>
                </a:cubicBezTo>
                <a:cubicBezTo>
                  <a:pt x="4006665" y="879699"/>
                  <a:pt x="3686300" y="779431"/>
                  <a:pt x="3434856" y="873330"/>
                </a:cubicBezTo>
                <a:cubicBezTo>
                  <a:pt x="3183412" y="967229"/>
                  <a:pt x="3070407" y="854029"/>
                  <a:pt x="2842639" y="873330"/>
                </a:cubicBezTo>
                <a:cubicBezTo>
                  <a:pt x="2614871" y="892631"/>
                  <a:pt x="2696929" y="860990"/>
                  <a:pt x="2605753" y="873330"/>
                </a:cubicBezTo>
                <a:cubicBezTo>
                  <a:pt x="2514577" y="885670"/>
                  <a:pt x="2248092" y="854383"/>
                  <a:pt x="2131980" y="873330"/>
                </a:cubicBezTo>
                <a:cubicBezTo>
                  <a:pt x="2015868" y="892277"/>
                  <a:pt x="1922868" y="847613"/>
                  <a:pt x="1776650" y="873330"/>
                </a:cubicBezTo>
                <a:cubicBezTo>
                  <a:pt x="1630432" y="899047"/>
                  <a:pt x="1653330" y="857938"/>
                  <a:pt x="1539763" y="873330"/>
                </a:cubicBezTo>
                <a:cubicBezTo>
                  <a:pt x="1426196" y="888722"/>
                  <a:pt x="1417096" y="854012"/>
                  <a:pt x="1302876" y="873330"/>
                </a:cubicBezTo>
                <a:cubicBezTo>
                  <a:pt x="1188656" y="892648"/>
                  <a:pt x="1084516" y="837815"/>
                  <a:pt x="947546" y="873330"/>
                </a:cubicBezTo>
                <a:cubicBezTo>
                  <a:pt x="810576" y="908845"/>
                  <a:pt x="294039" y="849989"/>
                  <a:pt x="0" y="873330"/>
                </a:cubicBezTo>
                <a:cubicBezTo>
                  <a:pt x="-7987" y="684011"/>
                  <a:pt x="33766" y="552509"/>
                  <a:pt x="0" y="445398"/>
                </a:cubicBezTo>
                <a:cubicBezTo>
                  <a:pt x="-33766" y="338287"/>
                  <a:pt x="16368" y="165599"/>
                  <a:pt x="0" y="0"/>
                </a:cubicBezTo>
                <a:close/>
              </a:path>
              <a:path w="11844331" h="873330" stroke="0" extrusionOk="0">
                <a:moveTo>
                  <a:pt x="0" y="0"/>
                </a:moveTo>
                <a:cubicBezTo>
                  <a:pt x="95498" y="-22934"/>
                  <a:pt x="164284" y="17160"/>
                  <a:pt x="236887" y="0"/>
                </a:cubicBezTo>
                <a:cubicBezTo>
                  <a:pt x="309490" y="-17160"/>
                  <a:pt x="396156" y="4738"/>
                  <a:pt x="473773" y="0"/>
                </a:cubicBezTo>
                <a:cubicBezTo>
                  <a:pt x="551390" y="-4738"/>
                  <a:pt x="791386" y="31761"/>
                  <a:pt x="947546" y="0"/>
                </a:cubicBezTo>
                <a:cubicBezTo>
                  <a:pt x="1103706" y="-31761"/>
                  <a:pt x="1427597" y="27538"/>
                  <a:pt x="1658206" y="0"/>
                </a:cubicBezTo>
                <a:cubicBezTo>
                  <a:pt x="1888815" y="-27538"/>
                  <a:pt x="2165639" y="6553"/>
                  <a:pt x="2487310" y="0"/>
                </a:cubicBezTo>
                <a:cubicBezTo>
                  <a:pt x="2808981" y="-6553"/>
                  <a:pt x="2729476" y="769"/>
                  <a:pt x="2961083" y="0"/>
                </a:cubicBezTo>
                <a:cubicBezTo>
                  <a:pt x="3192690" y="-769"/>
                  <a:pt x="3123671" y="24073"/>
                  <a:pt x="3197969" y="0"/>
                </a:cubicBezTo>
                <a:cubicBezTo>
                  <a:pt x="3272267" y="-24073"/>
                  <a:pt x="3473726" y="1508"/>
                  <a:pt x="3553299" y="0"/>
                </a:cubicBezTo>
                <a:cubicBezTo>
                  <a:pt x="3632872" y="-1508"/>
                  <a:pt x="3763109" y="4132"/>
                  <a:pt x="3908629" y="0"/>
                </a:cubicBezTo>
                <a:cubicBezTo>
                  <a:pt x="4054149" y="-4132"/>
                  <a:pt x="4038082" y="23133"/>
                  <a:pt x="4145516" y="0"/>
                </a:cubicBezTo>
                <a:cubicBezTo>
                  <a:pt x="4252950" y="-23133"/>
                  <a:pt x="4511737" y="32862"/>
                  <a:pt x="4737732" y="0"/>
                </a:cubicBezTo>
                <a:cubicBezTo>
                  <a:pt x="4963727" y="-32862"/>
                  <a:pt x="4988240" y="37034"/>
                  <a:pt x="5211506" y="0"/>
                </a:cubicBezTo>
                <a:cubicBezTo>
                  <a:pt x="5434772" y="-37034"/>
                  <a:pt x="5465028" y="5034"/>
                  <a:pt x="5566836" y="0"/>
                </a:cubicBezTo>
                <a:cubicBezTo>
                  <a:pt x="5668644" y="-5034"/>
                  <a:pt x="5812848" y="26983"/>
                  <a:pt x="5922166" y="0"/>
                </a:cubicBezTo>
                <a:cubicBezTo>
                  <a:pt x="6031484" y="-26983"/>
                  <a:pt x="6164202" y="19934"/>
                  <a:pt x="6277495" y="0"/>
                </a:cubicBezTo>
                <a:cubicBezTo>
                  <a:pt x="6390788" y="-19934"/>
                  <a:pt x="6792426" y="11343"/>
                  <a:pt x="6988155" y="0"/>
                </a:cubicBezTo>
                <a:cubicBezTo>
                  <a:pt x="7183884" y="-11343"/>
                  <a:pt x="7387713" y="32682"/>
                  <a:pt x="7580372" y="0"/>
                </a:cubicBezTo>
                <a:cubicBezTo>
                  <a:pt x="7773031" y="-32682"/>
                  <a:pt x="7994714" y="7801"/>
                  <a:pt x="8291032" y="0"/>
                </a:cubicBezTo>
                <a:cubicBezTo>
                  <a:pt x="8587350" y="-7801"/>
                  <a:pt x="8743275" y="54830"/>
                  <a:pt x="8883248" y="0"/>
                </a:cubicBezTo>
                <a:cubicBezTo>
                  <a:pt x="9023221" y="-54830"/>
                  <a:pt x="9070013" y="21000"/>
                  <a:pt x="9120135" y="0"/>
                </a:cubicBezTo>
                <a:cubicBezTo>
                  <a:pt x="9170257" y="-21000"/>
                  <a:pt x="9403067" y="13474"/>
                  <a:pt x="9475465" y="0"/>
                </a:cubicBezTo>
                <a:cubicBezTo>
                  <a:pt x="9547863" y="-13474"/>
                  <a:pt x="9651036" y="25635"/>
                  <a:pt x="9712351" y="0"/>
                </a:cubicBezTo>
                <a:cubicBezTo>
                  <a:pt x="9773666" y="-25635"/>
                  <a:pt x="9949622" y="21021"/>
                  <a:pt x="10186125" y="0"/>
                </a:cubicBezTo>
                <a:cubicBezTo>
                  <a:pt x="10422628" y="-21021"/>
                  <a:pt x="10558718" y="12879"/>
                  <a:pt x="10896785" y="0"/>
                </a:cubicBezTo>
                <a:cubicBezTo>
                  <a:pt x="11234852" y="-12879"/>
                  <a:pt x="11598813" y="107334"/>
                  <a:pt x="11844331" y="0"/>
                </a:cubicBezTo>
                <a:cubicBezTo>
                  <a:pt x="11850934" y="190766"/>
                  <a:pt x="11825288" y="327502"/>
                  <a:pt x="11844331" y="419198"/>
                </a:cubicBezTo>
                <a:cubicBezTo>
                  <a:pt x="11863374" y="510894"/>
                  <a:pt x="11812294" y="660491"/>
                  <a:pt x="11844331" y="873330"/>
                </a:cubicBezTo>
                <a:cubicBezTo>
                  <a:pt x="11696333" y="888670"/>
                  <a:pt x="11334177" y="788649"/>
                  <a:pt x="11133671" y="873330"/>
                </a:cubicBezTo>
                <a:cubicBezTo>
                  <a:pt x="10933165" y="958011"/>
                  <a:pt x="10991056" y="850288"/>
                  <a:pt x="10896785" y="873330"/>
                </a:cubicBezTo>
                <a:cubicBezTo>
                  <a:pt x="10802514" y="896372"/>
                  <a:pt x="10690012" y="853978"/>
                  <a:pt x="10541455" y="873330"/>
                </a:cubicBezTo>
                <a:cubicBezTo>
                  <a:pt x="10392898" y="892682"/>
                  <a:pt x="10218369" y="854633"/>
                  <a:pt x="9949238" y="873330"/>
                </a:cubicBezTo>
                <a:cubicBezTo>
                  <a:pt x="9680107" y="892027"/>
                  <a:pt x="9415906" y="838803"/>
                  <a:pt x="9120135" y="873330"/>
                </a:cubicBezTo>
                <a:cubicBezTo>
                  <a:pt x="8824364" y="907857"/>
                  <a:pt x="8465922" y="804351"/>
                  <a:pt x="8291032" y="873330"/>
                </a:cubicBezTo>
                <a:cubicBezTo>
                  <a:pt x="8116142" y="942309"/>
                  <a:pt x="7712026" y="823356"/>
                  <a:pt x="7461929" y="873330"/>
                </a:cubicBezTo>
                <a:cubicBezTo>
                  <a:pt x="7211832" y="923304"/>
                  <a:pt x="7278966" y="866557"/>
                  <a:pt x="7225042" y="873330"/>
                </a:cubicBezTo>
                <a:cubicBezTo>
                  <a:pt x="7171118" y="880103"/>
                  <a:pt x="6904107" y="846913"/>
                  <a:pt x="6751269" y="873330"/>
                </a:cubicBezTo>
                <a:cubicBezTo>
                  <a:pt x="6598431" y="899747"/>
                  <a:pt x="6498548" y="847314"/>
                  <a:pt x="6395939" y="873330"/>
                </a:cubicBezTo>
                <a:cubicBezTo>
                  <a:pt x="6293330" y="899346"/>
                  <a:pt x="5920347" y="845988"/>
                  <a:pt x="5685279" y="873330"/>
                </a:cubicBezTo>
                <a:cubicBezTo>
                  <a:pt x="5450211" y="900672"/>
                  <a:pt x="5382835" y="869168"/>
                  <a:pt x="5093062" y="873330"/>
                </a:cubicBezTo>
                <a:cubicBezTo>
                  <a:pt x="4803289" y="877492"/>
                  <a:pt x="4740081" y="867268"/>
                  <a:pt x="4619289" y="873330"/>
                </a:cubicBezTo>
                <a:cubicBezTo>
                  <a:pt x="4498497" y="879392"/>
                  <a:pt x="4317366" y="841219"/>
                  <a:pt x="4145516" y="873330"/>
                </a:cubicBezTo>
                <a:cubicBezTo>
                  <a:pt x="3973666" y="905441"/>
                  <a:pt x="3787910" y="839903"/>
                  <a:pt x="3671743" y="873330"/>
                </a:cubicBezTo>
                <a:cubicBezTo>
                  <a:pt x="3555576" y="906757"/>
                  <a:pt x="3485309" y="868795"/>
                  <a:pt x="3434856" y="873330"/>
                </a:cubicBezTo>
                <a:cubicBezTo>
                  <a:pt x="3384403" y="877865"/>
                  <a:pt x="3103689" y="849194"/>
                  <a:pt x="2961083" y="873330"/>
                </a:cubicBezTo>
                <a:cubicBezTo>
                  <a:pt x="2818477" y="897466"/>
                  <a:pt x="2837001" y="872677"/>
                  <a:pt x="2724196" y="873330"/>
                </a:cubicBezTo>
                <a:cubicBezTo>
                  <a:pt x="2611391" y="873983"/>
                  <a:pt x="2483633" y="853379"/>
                  <a:pt x="2368866" y="873330"/>
                </a:cubicBezTo>
                <a:cubicBezTo>
                  <a:pt x="2254099" y="893281"/>
                  <a:pt x="1795335" y="861485"/>
                  <a:pt x="1539763" y="873330"/>
                </a:cubicBezTo>
                <a:cubicBezTo>
                  <a:pt x="1284191" y="885175"/>
                  <a:pt x="1237461" y="859393"/>
                  <a:pt x="1065990" y="873330"/>
                </a:cubicBezTo>
                <a:cubicBezTo>
                  <a:pt x="894519" y="887267"/>
                  <a:pt x="314198" y="831062"/>
                  <a:pt x="0" y="873330"/>
                </a:cubicBezTo>
                <a:cubicBezTo>
                  <a:pt x="-30149" y="762877"/>
                  <a:pt x="52705" y="586788"/>
                  <a:pt x="0" y="427932"/>
                </a:cubicBezTo>
                <a:cubicBezTo>
                  <a:pt x="-52705" y="269076"/>
                  <a:pt x="6258" y="137006"/>
                  <a:pt x="0" y="0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27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5741476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281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onlineconfusionmatrix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bshr07/ArtificialIntelligence-HITEC-Fall2025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78D8-39C5-136D-7DE7-C372254E5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308" y="2696547"/>
            <a:ext cx="11073384" cy="1108431"/>
          </a:xfrm>
        </p:spPr>
        <p:txBody>
          <a:bodyPr>
            <a:normAutofit/>
          </a:bodyPr>
          <a:lstStyle/>
          <a:p>
            <a:r>
              <a:rPr lang="en-US" sz="6600" noProof="0" dirty="0"/>
              <a:t>CS312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AE1AE-E1E7-EFE4-AB97-134DB7127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3225" y="4814596"/>
            <a:ext cx="9144000" cy="1873541"/>
          </a:xfrm>
        </p:spPr>
        <p:txBody>
          <a:bodyPr>
            <a:normAutofit/>
          </a:bodyPr>
          <a:lstStyle/>
          <a:p>
            <a:pPr algn="r"/>
            <a:r>
              <a:rPr lang="en-US" b="1" noProof="0" dirty="0">
                <a:highlight>
                  <a:srgbClr val="00FFFF"/>
                </a:highlight>
              </a:rPr>
              <a:t>Lecture  </a:t>
            </a:r>
            <a:r>
              <a:rPr lang="en-US" b="1" noProof="0">
                <a:highlight>
                  <a:srgbClr val="00FFFF"/>
                </a:highlight>
              </a:rPr>
              <a:t>#  10</a:t>
            </a:r>
            <a:endParaRPr lang="en-US" b="1" noProof="0" dirty="0">
              <a:highlight>
                <a:srgbClr val="00FFFF"/>
              </a:highlight>
            </a:endParaRPr>
          </a:p>
          <a:p>
            <a:pPr algn="r"/>
            <a:r>
              <a:rPr lang="en-US" b="1" noProof="0" dirty="0"/>
              <a:t>HITEC University, Taxila</a:t>
            </a:r>
          </a:p>
          <a:p>
            <a:pPr algn="r"/>
            <a:r>
              <a:rPr lang="en-US" b="1" noProof="0" dirty="0"/>
              <a:t>Mr. Mubashir Iqbal</a:t>
            </a:r>
          </a:p>
          <a:p>
            <a:pPr algn="r"/>
            <a:r>
              <a:rPr lang="en-US" b="1" noProof="0" dirty="0"/>
              <a:t>Fall-2025</a:t>
            </a:r>
          </a:p>
        </p:txBody>
      </p:sp>
    </p:spTree>
    <p:extLst>
      <p:ext uri="{BB962C8B-B14F-4D97-AF65-F5344CB8AC3E}">
        <p14:creationId xmlns:p14="http://schemas.microsoft.com/office/powerpoint/2010/main" val="3931721149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C066-B27D-AA38-885C-2397EF3E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Lecture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6D9A2-03FB-796F-DEE1-8BF6927A2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Data Splitting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Introduction to ML (ML):</a:t>
            </a:r>
          </a:p>
          <a:p>
            <a:pPr marL="457200" lvl="1" indent="0">
              <a:buNone/>
            </a:pPr>
            <a:r>
              <a:rPr lang="en-GB" dirty="0"/>
              <a:t>•	Types of ML: Supervised, Unsupervised, Reinforcement Learning</a:t>
            </a:r>
          </a:p>
          <a:p>
            <a:pPr marL="457200" lvl="1" indent="0">
              <a:buNone/>
            </a:pPr>
            <a:r>
              <a:rPr lang="en-GB" dirty="0"/>
              <a:t>•	Regression (Linear and Logistic)</a:t>
            </a:r>
          </a:p>
          <a:p>
            <a:pPr marL="457200" lvl="1" indent="0">
              <a:buNone/>
            </a:pPr>
            <a:r>
              <a:rPr lang="en-GB" dirty="0"/>
              <a:t>•	Classification Techniques</a:t>
            </a:r>
          </a:p>
          <a:p>
            <a:pPr marL="457200" lvl="1" indent="0">
              <a:buNone/>
            </a:pPr>
            <a:r>
              <a:rPr lang="en-GB" dirty="0"/>
              <a:t>•	Model Evaluation Metrics (Accuracy, Precision, Recall, F1-Score)</a:t>
            </a:r>
          </a:p>
          <a:p>
            <a:pPr marL="457200" lvl="1" indent="0">
              <a:buNone/>
            </a:pPr>
            <a:r>
              <a:rPr lang="en-GB" dirty="0"/>
              <a:t>•	Hyperparameter Tuning and Overfitting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9F48D-8FC8-EA4C-9F18-AB41CC3BC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z="1800" b="1" noProof="0" smtClean="0"/>
              <a:pPr/>
              <a:t>2</a:t>
            </a:fld>
            <a:endParaRPr lang="en-US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1572776502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0D79-4980-8830-6F30-F8B32C5B81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94DCE-A25A-7D65-D160-814BDBF93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77890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69C1-6EC5-26C5-A04B-AE752FF7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A23AE-D2B3-D6E8-813C-51C832B3C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divides a dataset into parts to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 models. It ensures that the model is evaluated on unseen data, preventing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improving its generalization.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A307F-F73C-4E0A-05A4-92053F14F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2" descr="Train, Validation, Test Split” explained in 200 words. - Data Science">
            <a:extLst>
              <a:ext uri="{FF2B5EF4-FFF2-40B4-BE49-F238E27FC236}">
                <a16:creationId xmlns:a16="http://schemas.microsoft.com/office/drawing/2014/main" id="{7E4A341B-48DF-795F-5FB3-D16DA83516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5" t="6047" r="7347" b="2584"/>
          <a:stretch/>
        </p:blipFill>
        <p:spPr bwMode="auto">
          <a:xfrm>
            <a:off x="1846491" y="2534570"/>
            <a:ext cx="3162784" cy="425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Kaggle Titanic Dataset : Cleaning &amp; Split data into train, validation, and  test set – Learn Python , Tableau &amp; Amsterdam">
            <a:extLst>
              <a:ext uri="{FF2B5EF4-FFF2-40B4-BE49-F238E27FC236}">
                <a16:creationId xmlns:a16="http://schemas.microsoft.com/office/drawing/2014/main" id="{FF44D545-805D-C20A-FE5A-7385FC33CC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6" t="9751" r="4231" b="7891"/>
          <a:stretch/>
        </p:blipFill>
        <p:spPr bwMode="auto">
          <a:xfrm>
            <a:off x="5901747" y="2893667"/>
            <a:ext cx="5671127" cy="375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184336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4E8D-D668-B26C-BD39-88F1ED76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0AA84-F62D-DAB1-058B-A98372529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commonly divided into three parts:</a:t>
            </a:r>
          </a:p>
          <a:p>
            <a:pPr marL="457200" indent="-4572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Data: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Typically, 60-70% of the dataset.</a:t>
            </a:r>
          </a:p>
          <a:p>
            <a:pPr marL="457200" indent="-4572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Data: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to tune hyperparameters and evaluate the model during training. 10-20% of the dataset.</a:t>
            </a:r>
          </a:p>
          <a:p>
            <a:pPr marL="457200" indent="-4572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Data: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for the final evaluation of the model after training. 20-30% of the dataset.</a:t>
            </a:r>
          </a:p>
          <a:p>
            <a:endParaRPr lang="en-GB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Ratios:</a:t>
            </a:r>
          </a:p>
          <a:p>
            <a:pPr marL="457200" indent="-457200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60-20-20: Training (60%), Validation (20%), Testing (20%)</a:t>
            </a:r>
          </a:p>
          <a:p>
            <a:pPr marL="457200" indent="-457200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70-15-15: Training (70%), Validation (15%), Testing (15%)</a:t>
            </a:r>
          </a:p>
          <a:p>
            <a:pPr marL="457200" indent="-457200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80-20: Training (80%), Testing (20%)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EEA3F-B1A3-497F-E6A7-AB4EF4E61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442564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DCF56-E57E-97CA-7BF7-C8CA43BF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E0CD-AD0A-5FCF-935D-2E56DEFC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Splitting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75456-FCE4-09BA-6DFC-D5A666BA7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D3B2D-01E7-4F8C-2922-D87DDA4CCF01}"/>
              </a:ext>
            </a:extLst>
          </p:cNvPr>
          <p:cNvSpPr txBox="1"/>
          <p:nvPr/>
        </p:nvSpPr>
        <p:spPr>
          <a:xfrm>
            <a:off x="446616" y="2785071"/>
            <a:ext cx="111823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GB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GB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Convert to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Split the data into features (X) and target labels (y)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[['Feature1', 'Feature2’]]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['Label’]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Randomly split into training (70%), validation (15%), and testing (15%)</a:t>
            </a:r>
          </a:p>
          <a:p>
            <a:pPr algn="just"/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X_temp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y_temp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=0.3,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</a:p>
          <a:p>
            <a:pPr algn="just"/>
            <a:endParaRPr lang="en-GB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y_val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X_temp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y_temp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=0.5,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</a:p>
        </p:txBody>
      </p:sp>
      <p:pic>
        <p:nvPicPr>
          <p:cNvPr id="8" name="Picture 2" descr="Splitting data into 'train', 'validation' and 'test' sets - Hark">
            <a:extLst>
              <a:ext uri="{FF2B5EF4-FFF2-40B4-BE49-F238E27FC236}">
                <a16:creationId xmlns:a16="http://schemas.microsoft.com/office/drawing/2014/main" id="{34D18F08-4FB5-8C4D-E265-51BA83C42C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15" b="10327"/>
          <a:stretch/>
        </p:blipFill>
        <p:spPr bwMode="auto">
          <a:xfrm>
            <a:off x="2438400" y="865255"/>
            <a:ext cx="9753600" cy="186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35475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0A6B-0E63-9A86-5630-6900AA0C0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Do We Need Data Splitting?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8FF77-4EC8-B0F4-B3F8-C5DF1EF99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Overfitting: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splitting, the model might memorize the dataset instead of learning patterns, leading to poor performance on new data</a:t>
            </a:r>
          </a:p>
          <a:p>
            <a:pPr marL="457200" indent="-457200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allows us to test the model on unseen data, giving a realistic measure of its accuracy and robustness</a:t>
            </a:r>
          </a:p>
          <a:p>
            <a:pPr marL="457200" indent="-457200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 helps optimize model parameters without affecting the testing results.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BFDAA-66D3-3220-FCC7-ADABAEC6D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959864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9171-9E89-DA83-7213-AA652591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Data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26B9A-DB41-A630-5C20-EE53F9FED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Splitting: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split data into training, validation, and testing subsets.</a:t>
            </a:r>
          </a:p>
          <a:p>
            <a:pPr marL="457200" indent="-457200"/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Splitting: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the class distribution remains consistent across all subsets (important for imbalanced datasets).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K-Fold Cross-Validation: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is split into K parts (folds). Each fold is used as a test set once, while the remaining folds are used for training</a:t>
            </a:r>
            <a:endParaRPr lang="en-GB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BB374-551F-7656-83DB-A48A784BE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23C35-DBC1-B01F-E334-7A7F67596A03}"/>
              </a:ext>
            </a:extLst>
          </p:cNvPr>
          <p:cNvSpPr txBox="1"/>
          <p:nvPr/>
        </p:nvSpPr>
        <p:spPr>
          <a:xfrm>
            <a:off x="2725009" y="1524592"/>
            <a:ext cx="8751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=0.3, </a:t>
            </a:r>
            <a:r>
              <a:rPr lang="en-GB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215A1-FD9A-1C78-CC74-E69F2550FBA1}"/>
              </a:ext>
            </a:extLst>
          </p:cNvPr>
          <p:cNvSpPr txBox="1"/>
          <p:nvPr/>
        </p:nvSpPr>
        <p:spPr>
          <a:xfrm>
            <a:off x="2803517" y="2941290"/>
            <a:ext cx="9274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=0.3, </a:t>
            </a: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stratify=y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2595C-719A-444D-877F-19B303137A2F}"/>
              </a:ext>
            </a:extLst>
          </p:cNvPr>
          <p:cNvSpPr txBox="1"/>
          <p:nvPr/>
        </p:nvSpPr>
        <p:spPr>
          <a:xfrm>
            <a:off x="2725008" y="4420551"/>
            <a:ext cx="92745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Kfold</a:t>
            </a:r>
            <a:endParaRPr lang="en-GB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…….</a:t>
            </a:r>
          </a:p>
          <a:p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…….</a:t>
            </a:r>
          </a:p>
          <a:p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…….</a:t>
            </a:r>
          </a:p>
          <a:p>
            <a:endParaRPr lang="en-GB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78073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C427-0200-74E3-CFB5-AC7279B10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2469578"/>
            <a:ext cx="11073384" cy="1803842"/>
          </a:xfrm>
        </p:spPr>
        <p:txBody>
          <a:bodyPr>
            <a:normAutofit/>
          </a:bodyPr>
          <a:lstStyle/>
          <a:p>
            <a:r>
              <a:rPr lang="en-US" dirty="0"/>
              <a:t>Introduction to </a:t>
            </a:r>
            <a:br>
              <a:rPr lang="en-US" dirty="0"/>
            </a:br>
            <a:r>
              <a:rPr lang="en-US" dirty="0"/>
              <a:t>Artificial Intelligence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FA1F0-31A3-F5CF-7CBC-9EA4798F27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97433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4FDD2-409E-35FA-3415-CADF6CAF2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B8C67-7F84-F9CA-0210-FAB3F6A30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field of computer science that focuses on </a:t>
            </a:r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creating systems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can perform tasks that would normally require human intelligence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tasks include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language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 decisions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solving problems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aims to build machines or programs that can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adapt to new situations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possible for computers to mimic human abilities and cognitive function.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85D56-892F-0D69-FE9C-C1502EE32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13278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6B8C-6C9A-D0A4-11CC-E4AFC587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E848E-4889-730F-786F-DB53342EA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6438F9A-F9CC-DBFE-0033-9E818D3C0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611" y="118517"/>
            <a:ext cx="10206662" cy="6604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504979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2158C-CF12-B93A-1B85-48E4BE27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Branches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9F0F8-A823-56EA-8E36-013D22760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Machine Learning (ML)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Learn patterns from data to make predictions or decisions.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Gmail’s spam email detection.</a:t>
            </a:r>
          </a:p>
          <a:p>
            <a:pPr marL="0" indent="0">
              <a:buNone/>
            </a:pPr>
            <a:r>
              <a:rPr lang="en-GB" b="1" dirty="0"/>
              <a:t>2. Deep Learning (DL)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Automatically extract features from large datasets using neural networks.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Face recognition in smartphones.</a:t>
            </a:r>
          </a:p>
          <a:p>
            <a:pPr marL="0" indent="0">
              <a:buNone/>
            </a:pPr>
            <a:r>
              <a:rPr lang="en-GB" b="1" dirty="0"/>
              <a:t>3. Natural Language Processing (NLP)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Understand and generate human language.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ChatGPT answering questions.</a:t>
            </a:r>
          </a:p>
          <a:p>
            <a:pPr marL="0" indent="0">
              <a:buNone/>
            </a:pPr>
            <a:r>
              <a:rPr lang="en-GB" b="1" dirty="0"/>
              <a:t>4. Computer Vision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Enable machines to interpret and </a:t>
            </a:r>
            <a:r>
              <a:rPr lang="en-GB" dirty="0" err="1"/>
              <a:t>analyze</a:t>
            </a:r>
            <a:r>
              <a:rPr lang="en-GB" dirty="0"/>
              <a:t> images or video.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Self-driving cars detecting pedestrians.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4531C-F2A1-BD38-1E0C-FB7E33266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93321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EDD9-EA03-8D22-8910-ECAAED30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39E1-8E45-EF51-DFF8-526BB110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Branches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27094-261D-A108-82EC-0902BDC7B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5. Robotics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Build intelligent machines that can act and interact with the physical world.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Warehouse robots used by Amazon for item picking.</a:t>
            </a:r>
          </a:p>
          <a:p>
            <a:pPr marL="0" indent="0">
              <a:buNone/>
            </a:pPr>
            <a:r>
              <a:rPr lang="en-GB" b="1" dirty="0"/>
              <a:t>6. Expert Systems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Use a knowledge base and rules to make expert-level decisions.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Medical diagnosis systems that suggest treatment options.</a:t>
            </a:r>
          </a:p>
          <a:p>
            <a:pPr marL="0" indent="0">
              <a:buNone/>
            </a:pPr>
            <a:r>
              <a:rPr lang="en-GB" b="1" dirty="0"/>
              <a:t>7. Reinforcement Learning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Learn actions by trial and error to maximize reward.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AlphaGo learning to defeat world champion Go players.</a:t>
            </a:r>
          </a:p>
          <a:p>
            <a:pPr marL="0" indent="0">
              <a:buNone/>
            </a:pPr>
            <a:r>
              <a:rPr lang="en-GB" b="1" dirty="0"/>
              <a:t>8. Fuzzy Logic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Make decisions in situations with uncertainty or imprecise data.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Washing machines adjusting wash cycles based on dirt levels.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E9BFA-F4EB-618D-2A28-D64A52D7C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247758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A1DE2-F45E-B43C-02EE-2C3227D19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76FC-1484-D248-C362-904CE455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Branches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37D43-DD30-EED5-A341-FEB97288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9. Evolutionary Computation (Genetic Algorithms)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Optimize solutions using natural selection principles.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Designing aerodynamic shapes for aircraft wings.</a:t>
            </a:r>
          </a:p>
          <a:p>
            <a:pPr marL="0" indent="0">
              <a:buNone/>
            </a:pPr>
            <a:r>
              <a:rPr lang="en-GB" b="1" dirty="0"/>
              <a:t>10. Speech Recognition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Convert spoken words into text.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Siri or Google Assistant understanding voice commands.</a:t>
            </a:r>
          </a:p>
          <a:p>
            <a:pPr marL="0" indent="0">
              <a:buNone/>
            </a:pPr>
            <a:r>
              <a:rPr lang="en-GB" b="1" dirty="0"/>
              <a:t>11. Planning &amp; Reasoning (Automated Planning)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Allow AI to plan sequences of actions to reach a goal.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NASA’s autonomous rover planning paths on Mars</a:t>
            </a:r>
          </a:p>
          <a:p>
            <a:pPr marL="0" indent="0">
              <a:buNone/>
            </a:pPr>
            <a:r>
              <a:rPr lang="en-GB" b="1" dirty="0"/>
              <a:t>12. Knowledge Representation &amp; Ontology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Store and organize knowledge in a machine-understandable form.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Semantic web (Google Knowledge Graph).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98871-A28A-8EFB-0A5A-DF30540C5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74106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20B5-05D6-2F38-DB0F-6D2EDE23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42C5-22B6-F469-6787-C4E64B6C3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ML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E29E5-6C78-8FBE-4007-D3F78AF50E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01116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32CE-4E18-DA6B-36E9-23242922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65EB3-57F0-5980-D17E-FD98D67E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/>
              <a:t>Machine Learning (ML)</a:t>
            </a:r>
            <a:r>
              <a:rPr lang="en-GB" dirty="0"/>
              <a:t> is a subfield of Artificial Intelligence (AI) that focuses on developing systems that can </a:t>
            </a:r>
            <a:r>
              <a:rPr lang="en-GB" b="1" dirty="0"/>
              <a:t>learn patterns from data</a:t>
            </a:r>
            <a:r>
              <a:rPr lang="en-GB" dirty="0"/>
              <a:t> and </a:t>
            </a:r>
            <a:r>
              <a:rPr lang="en-GB" b="1" dirty="0"/>
              <a:t>improve their performance over time without being explicitly programmed</a:t>
            </a:r>
            <a:r>
              <a:rPr lang="en-GB" dirty="0"/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dirty="0"/>
              <a:t>Instead of writing fixed rules (as in traditional programming), ML algorithms automatically infer rules, relationships, and predictions by </a:t>
            </a:r>
            <a:r>
              <a:rPr lang="en-GB" dirty="0" err="1"/>
              <a:t>analyzing</a:t>
            </a:r>
            <a:r>
              <a:rPr lang="en-GB" dirty="0"/>
              <a:t> examples.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highlight>
                  <a:srgbClr val="FFFF00"/>
                </a:highlight>
              </a:rPr>
              <a:t>Explicitly programmed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means </a:t>
            </a:r>
            <a:r>
              <a:rPr lang="en-GB" b="1" dirty="0"/>
              <a:t>the computer is given exact, step-by-step instructions written by a human.</a:t>
            </a:r>
            <a:endParaRPr lang="en-GB" dirty="0"/>
          </a:p>
          <a:p>
            <a:pPr marL="0" indent="0">
              <a:buNone/>
            </a:pPr>
            <a:endParaRPr lang="en-US" sz="2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B0E78-D95B-92F8-14F7-D0BF40CAF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18289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514D-3DDB-42EA-E23D-9FA17CD1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79B93-B6FF-701B-9C36-B908EF3C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4063D-BC8C-595B-7593-4CA626527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highlight>
                  <a:srgbClr val="00FFFF"/>
                </a:highlight>
              </a:rPr>
              <a:t>Key Characteristics of Machine Learning</a:t>
            </a:r>
          </a:p>
          <a:p>
            <a:pPr lvl="1"/>
            <a:r>
              <a:rPr lang="en-GB" b="1" dirty="0"/>
              <a:t>Data-driven</a:t>
            </a:r>
            <a:r>
              <a:rPr lang="en-GB" dirty="0"/>
              <a:t> (performance improves with more data)</a:t>
            </a:r>
          </a:p>
          <a:p>
            <a:pPr lvl="1"/>
            <a:r>
              <a:rPr lang="en-GB" b="1" dirty="0"/>
              <a:t>Self-adaptive</a:t>
            </a:r>
            <a:r>
              <a:rPr lang="en-GB" dirty="0"/>
              <a:t> (learns from feedback)</a:t>
            </a:r>
          </a:p>
          <a:p>
            <a:pPr lvl="1"/>
            <a:r>
              <a:rPr lang="en-GB" b="1" dirty="0"/>
              <a:t>Model-based</a:t>
            </a:r>
            <a:r>
              <a:rPr lang="en-GB" dirty="0"/>
              <a:t> (mathematical functions)</a:t>
            </a:r>
          </a:p>
          <a:p>
            <a:pPr lvl="1"/>
            <a:r>
              <a:rPr lang="en-GB" b="1" dirty="0"/>
              <a:t>Probabilistic and statistical foundation</a:t>
            </a:r>
            <a:endParaRPr lang="en-GB" dirty="0"/>
          </a:p>
          <a:p>
            <a:pPr lvl="1"/>
            <a:r>
              <a:rPr lang="en-GB" b="1" dirty="0"/>
              <a:t>Generalizes to unseen data</a:t>
            </a:r>
            <a:endParaRPr lang="en-GB" dirty="0"/>
          </a:p>
          <a:p>
            <a:pPr marL="0" indent="0">
              <a:buNone/>
            </a:pPr>
            <a:r>
              <a:rPr lang="en-GB" b="1" dirty="0">
                <a:highlight>
                  <a:srgbClr val="FFFF00"/>
                </a:highlight>
              </a:rPr>
              <a:t>Core Idea of Machine Learning</a:t>
            </a:r>
          </a:p>
          <a:p>
            <a:pPr lvl="1"/>
            <a:r>
              <a:rPr lang="en-GB" dirty="0"/>
              <a:t>ML works by mapping </a:t>
            </a:r>
            <a:r>
              <a:rPr lang="en-GB" b="1" dirty="0"/>
              <a:t>input features</a:t>
            </a:r>
            <a:r>
              <a:rPr lang="en-GB" dirty="0"/>
              <a:t> to </a:t>
            </a:r>
            <a:r>
              <a:rPr lang="en-GB" b="1" dirty="0"/>
              <a:t>output predictions</a:t>
            </a:r>
            <a:r>
              <a:rPr lang="en-GB" dirty="0"/>
              <a:t>, using mathematical models.</a:t>
            </a:r>
          </a:p>
          <a:p>
            <a:pPr marL="0" indent="0">
              <a:buNone/>
            </a:pPr>
            <a:r>
              <a:rPr lang="en-GB" b="1" dirty="0"/>
              <a:t>   Example:</a:t>
            </a:r>
          </a:p>
          <a:p>
            <a:pPr lvl="1"/>
            <a:r>
              <a:rPr lang="en-GB" dirty="0"/>
              <a:t>Input: Age, Salary, Shopping history </a:t>
            </a:r>
          </a:p>
          <a:p>
            <a:pPr lvl="1"/>
            <a:r>
              <a:rPr lang="en-GB" dirty="0"/>
              <a:t>Output: Likelihood of purchasing a product</a:t>
            </a:r>
          </a:p>
          <a:p>
            <a:pPr lvl="1"/>
            <a:r>
              <a:rPr lang="en-GB" dirty="0"/>
              <a:t>The ML model </a:t>
            </a:r>
            <a:r>
              <a:rPr lang="en-GB" b="1" dirty="0"/>
              <a:t>learns</a:t>
            </a:r>
            <a:r>
              <a:rPr lang="en-GB" dirty="0"/>
              <a:t> this mapping from past </a:t>
            </a:r>
            <a:r>
              <a:rPr lang="en-GB" dirty="0" err="1"/>
              <a:t>labeled</a:t>
            </a:r>
            <a:r>
              <a:rPr lang="en-GB" dirty="0"/>
              <a:t> examples.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C3032-5AC7-C35F-7539-C95318DC2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71853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0191-FB56-2EDC-9949-FA3CE3CA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F1CA-085A-F0A9-8AC6-6E25966F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4C471-E58E-27E4-72B5-4725BC624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algorithms are classified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main 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how they learn from the data: </a:t>
            </a:r>
          </a:p>
          <a:p>
            <a:pPr marL="457200" indent="-45720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Learning.</a:t>
            </a:r>
            <a:endParaRPr lang="en-US" sz="2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E7B28-DAD1-C750-1DCF-D27A9429E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07977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1C60-74D9-247F-5EFB-B497EAE9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57E9D-4E8F-1A66-1390-F23F3B3B7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Supervised Learning is when a model learns from </a:t>
            </a:r>
            <a:r>
              <a:rPr lang="en-GB" b="1" dirty="0" err="1">
                <a:highlight>
                  <a:srgbClr val="FFFF00"/>
                </a:highlight>
              </a:rPr>
              <a:t>labeled</a:t>
            </a:r>
            <a:r>
              <a:rPr lang="en-GB" b="1" dirty="0">
                <a:highlight>
                  <a:srgbClr val="FFFF00"/>
                </a:highlight>
              </a:rPr>
              <a:t> data</a:t>
            </a:r>
            <a:r>
              <a:rPr lang="en-GB" dirty="0"/>
              <a:t>, meaning the correct answers are already provided. The model simply </a:t>
            </a:r>
            <a:r>
              <a:rPr lang="en-GB" b="1" dirty="0"/>
              <a:t>learns the pattern</a:t>
            </a:r>
            <a:r>
              <a:rPr lang="en-GB" dirty="0"/>
              <a:t> between input and output.</a:t>
            </a:r>
          </a:p>
          <a:p>
            <a:pPr marL="0" indent="0" algn="l">
              <a:buNone/>
            </a:pPr>
            <a:r>
              <a:rPr lang="en-GB" b="1" dirty="0"/>
              <a:t>Example: </a:t>
            </a:r>
            <a:r>
              <a:rPr lang="en-GB" dirty="0"/>
              <a:t>You give images of cats and dogs </a:t>
            </a:r>
            <a:r>
              <a:rPr lang="en-GB" b="1" dirty="0"/>
              <a:t>with labels</a:t>
            </a:r>
            <a:r>
              <a:rPr lang="en-GB" dirty="0"/>
              <a:t>, and the model learns to identify them.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learn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from inputs to outputs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the model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predict the label for </a:t>
            </a:r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new, unseen data</a:t>
            </a:r>
          </a:p>
          <a:p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(categorizing data) and regression (predicting continuous values).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8C562-8697-3D8A-CA3E-C45767C84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62693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D04C-687E-FFB2-92D1-0D987E5B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Algorithms of 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CD323-97DA-38FF-3981-C292F41C6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Linear Regression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Predict continuous numerical values.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Predicting </a:t>
            </a:r>
            <a:r>
              <a:rPr lang="en-GB" b="1" dirty="0"/>
              <a:t>house prices</a:t>
            </a:r>
            <a:r>
              <a:rPr lang="en-GB" dirty="0"/>
              <a:t> using area, rooms, and location.</a:t>
            </a:r>
          </a:p>
          <a:p>
            <a:pPr marL="0" indent="0">
              <a:buNone/>
            </a:pPr>
            <a:r>
              <a:rPr lang="en-GB" b="1" dirty="0"/>
              <a:t>2. Logistic Regression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Binary classification (yes/no, true/false).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Detecting whether an </a:t>
            </a:r>
            <a:r>
              <a:rPr lang="en-GB" b="1" dirty="0"/>
              <a:t>email is spam or not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3. K-Nearest </a:t>
            </a:r>
            <a:r>
              <a:rPr lang="en-GB" b="1" dirty="0" err="1"/>
              <a:t>Neighbors</a:t>
            </a:r>
            <a:r>
              <a:rPr lang="en-GB" b="1" dirty="0"/>
              <a:t> (KNN)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Classify an object based on the closest data points.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Classifying a </a:t>
            </a:r>
            <a:r>
              <a:rPr lang="en-GB" b="1" dirty="0"/>
              <a:t>new flower species</a:t>
            </a:r>
            <a:r>
              <a:rPr lang="en-GB" dirty="0"/>
              <a:t> based on similar flowers.</a:t>
            </a:r>
          </a:p>
          <a:p>
            <a:pPr marL="0" indent="0">
              <a:buNone/>
            </a:pPr>
            <a:r>
              <a:rPr lang="en-GB" b="1" dirty="0"/>
              <a:t>4. Support Vector Machine (SVM)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Find the best boundary that separates classes.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Classifying </a:t>
            </a:r>
            <a:r>
              <a:rPr lang="en-GB" b="1" dirty="0"/>
              <a:t>malignant vs. benign </a:t>
            </a:r>
            <a:r>
              <a:rPr lang="en-GB" b="1" dirty="0" err="1"/>
              <a:t>tumors</a:t>
            </a:r>
            <a:r>
              <a:rPr lang="en-GB" dirty="0"/>
              <a:t> in medical imaging.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E00AF-D0FD-A720-1790-39F4C7DA7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587232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00C8-B303-B3D2-7154-E3E970EE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Algorithms of 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96D56-B238-DC56-58AC-6D13DCAA4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5. Decision Tree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Classification using rule-based decision paths.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Deciding if a person will </a:t>
            </a:r>
            <a:r>
              <a:rPr lang="en-GB" b="1" dirty="0"/>
              <a:t>buy a product</a:t>
            </a:r>
            <a:r>
              <a:rPr lang="en-GB" dirty="0"/>
              <a:t> based on income, age, etc.</a:t>
            </a:r>
          </a:p>
          <a:p>
            <a:pPr marL="0" indent="0">
              <a:buNone/>
            </a:pPr>
            <a:r>
              <a:rPr lang="en-GB" b="1" dirty="0"/>
              <a:t>6. Random Forest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Improve accuracy by combining many decision trees.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Predicting </a:t>
            </a:r>
            <a:r>
              <a:rPr lang="en-GB" b="1" dirty="0"/>
              <a:t>loan approval</a:t>
            </a:r>
            <a:r>
              <a:rPr lang="en-GB" dirty="0"/>
              <a:t> more reliably in banks.</a:t>
            </a:r>
          </a:p>
          <a:p>
            <a:pPr marL="0" indent="0">
              <a:buNone/>
            </a:pPr>
            <a:r>
              <a:rPr lang="en-GB" b="1" dirty="0"/>
              <a:t>7. Naïve Bayes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Probabilistic classification using conditional probability.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</a:t>
            </a:r>
            <a:r>
              <a:rPr lang="en-GB" b="1" dirty="0"/>
              <a:t>Sentiment analysis</a:t>
            </a:r>
            <a:r>
              <a:rPr lang="en-GB" dirty="0"/>
              <a:t> (positive/negative reviews).</a:t>
            </a:r>
          </a:p>
          <a:p>
            <a:pPr marL="0" indent="0">
              <a:buNone/>
            </a:pPr>
            <a:r>
              <a:rPr lang="en-GB" b="1" dirty="0"/>
              <a:t>8. Gradient Boosting (</a:t>
            </a:r>
            <a:r>
              <a:rPr lang="en-GB" b="1" dirty="0" err="1"/>
              <a:t>XGBoost</a:t>
            </a:r>
            <a:r>
              <a:rPr lang="en-GB" b="1" dirty="0"/>
              <a:t>, </a:t>
            </a:r>
            <a:r>
              <a:rPr lang="en-GB" b="1" dirty="0" err="1"/>
              <a:t>LightGBM</a:t>
            </a:r>
            <a:r>
              <a:rPr lang="en-GB" b="1" dirty="0"/>
              <a:t>, AdaBoost)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High-performance prediction using boosting techniques.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</a:t>
            </a:r>
            <a:r>
              <a:rPr lang="en-GB" b="1" dirty="0"/>
              <a:t>Fraud detection</a:t>
            </a:r>
            <a:r>
              <a:rPr lang="en-GB" dirty="0"/>
              <a:t> in banking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87DB9-789D-0846-0401-062567FD7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646243"/>
      </p:ext>
    </p:extLst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F5A3-14CB-6E61-523B-E88D9AD5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CAFD9DC-8BD7-F96F-E8EB-D0646AF68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980647"/>
              </p:ext>
            </p:extLst>
          </p:nvPr>
        </p:nvGraphicFramePr>
        <p:xfrm>
          <a:off x="183077" y="1447800"/>
          <a:ext cx="11844340" cy="3962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8126">
                  <a:extLst>
                    <a:ext uri="{9D8B030D-6E8A-4147-A177-3AD203B41FA5}">
                      <a16:colId xmlns:a16="http://schemas.microsoft.com/office/drawing/2014/main" val="3850177910"/>
                    </a:ext>
                  </a:extLst>
                </a:gridCol>
                <a:gridCol w="2273173">
                  <a:extLst>
                    <a:ext uri="{9D8B030D-6E8A-4147-A177-3AD203B41FA5}">
                      <a16:colId xmlns:a16="http://schemas.microsoft.com/office/drawing/2014/main" val="2126313514"/>
                    </a:ext>
                  </a:extLst>
                </a:gridCol>
                <a:gridCol w="1660848">
                  <a:extLst>
                    <a:ext uri="{9D8B030D-6E8A-4147-A177-3AD203B41FA5}">
                      <a16:colId xmlns:a16="http://schemas.microsoft.com/office/drawing/2014/main" val="151727295"/>
                    </a:ext>
                  </a:extLst>
                </a:gridCol>
                <a:gridCol w="3433666">
                  <a:extLst>
                    <a:ext uri="{9D8B030D-6E8A-4147-A177-3AD203B41FA5}">
                      <a16:colId xmlns:a16="http://schemas.microsoft.com/office/drawing/2014/main" val="3418830990"/>
                    </a:ext>
                  </a:extLst>
                </a:gridCol>
                <a:gridCol w="3648527">
                  <a:extLst>
                    <a:ext uri="{9D8B030D-6E8A-4147-A177-3AD203B41FA5}">
                      <a16:colId xmlns:a16="http://schemas.microsoft.com/office/drawing/2014/main" val="2859793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S/N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Algorithm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Category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/>
                        <a:t>One-line Use Case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Real-world Example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472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Predict continuous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House price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306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Yes/No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Spam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718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Classify based on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Flower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13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Best decision 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Cancer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985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Rule-based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Customer purchase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9595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Ensemble for high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Loan approval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269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Naive 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Probability-based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Sentiment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199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Boosting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High-performance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Fraud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431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Neural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/>
                        <a:t>Both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Learn complex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Handwritten digit recognition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97945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80787-FB96-F4D5-91F9-F53481787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450857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208B-5A2C-1262-FE46-A1B764800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AF412-30AE-61FC-0865-7B5BD0BBB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Unsupervised Learning </a:t>
            </a:r>
            <a:r>
              <a:rPr lang="en-GB" dirty="0"/>
              <a:t>is when a model learns from </a:t>
            </a:r>
            <a:r>
              <a:rPr lang="en-GB" b="1" dirty="0" err="1">
                <a:highlight>
                  <a:srgbClr val="FFFF00"/>
                </a:highlight>
              </a:rPr>
              <a:t>unlabeled</a:t>
            </a:r>
            <a:r>
              <a:rPr lang="en-GB" b="1" dirty="0">
                <a:highlight>
                  <a:srgbClr val="FFFF00"/>
                </a:highlight>
              </a:rPr>
              <a:t> data</a:t>
            </a:r>
            <a:r>
              <a:rPr lang="en-GB" dirty="0"/>
              <a:t>, no correct answers are given. The model tries to </a:t>
            </a:r>
            <a:r>
              <a:rPr lang="en-GB" b="1" dirty="0"/>
              <a:t>discover hidden patterns or groups</a:t>
            </a:r>
            <a:r>
              <a:rPr lang="en-GB" dirty="0"/>
              <a:t> on its own.</a:t>
            </a:r>
          </a:p>
          <a:p>
            <a:pPr marL="0" indent="0">
              <a:buNone/>
            </a:pPr>
            <a:r>
              <a:rPr lang="en-GB" b="1" dirty="0"/>
              <a:t>Example: </a:t>
            </a:r>
            <a:r>
              <a:rPr lang="en-GB" dirty="0"/>
              <a:t>Grouping customers into clusters based on their </a:t>
            </a:r>
            <a:r>
              <a:rPr lang="en-GB" dirty="0" err="1"/>
              <a:t>behavior</a:t>
            </a:r>
            <a:r>
              <a:rPr lang="en-GB" dirty="0"/>
              <a:t> (without knowing their categories before).</a:t>
            </a:r>
          </a:p>
          <a:p>
            <a:pPr marL="457200" indent="-457200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tries to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patterns, groupings, or structures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data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its own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/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is often used for </a:t>
            </a:r>
            <a:r>
              <a:rPr lang="en-GB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data segmentation.</a:t>
            </a:r>
          </a:p>
          <a:p>
            <a:endParaRPr lang="en-GB" sz="18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(grouping similar data) and association (finding relationships in data).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9BF0-BA7B-4FA4-56C9-850F784A9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25181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AFF5-D321-1434-5A16-B64E8A1B1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Algorithms of 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DA8F3-7D4B-BCD2-135C-393D4894A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K-Means Clustering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Group similar items into clusters.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Customer segmentation in marketing (grouping customers by buying </a:t>
            </a:r>
            <a:r>
              <a:rPr lang="en-GB" dirty="0" err="1"/>
              <a:t>behavior</a:t>
            </a:r>
            <a:r>
              <a:rPr lang="en-GB" dirty="0"/>
              <a:t>).</a:t>
            </a:r>
          </a:p>
          <a:p>
            <a:pPr marL="0" indent="0">
              <a:buNone/>
            </a:pPr>
            <a:r>
              <a:rPr lang="en-GB" b="1" dirty="0"/>
              <a:t>2. Hierarchical Clustering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Build a tree-like structure of clusters.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Creating gene/protein similarity trees in bioinformatics.</a:t>
            </a:r>
          </a:p>
          <a:p>
            <a:pPr marL="0" indent="0">
              <a:buNone/>
            </a:pPr>
            <a:r>
              <a:rPr lang="en-GB" b="1" dirty="0"/>
              <a:t>3. DBSCAN (Density-Based Clustering)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Detect clusters of any shape and identify noise/outliers.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Identifying unusual movement patterns in GPS tracking (outlier detection).</a:t>
            </a:r>
          </a:p>
          <a:p>
            <a:pPr marL="0" indent="0">
              <a:buNone/>
            </a:pPr>
            <a:r>
              <a:rPr lang="en-GB" b="1" dirty="0"/>
              <a:t>4. Gaussian Mixture Models (GMM)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Probabilistic clustering using mixture of Gaussian distributions</a:t>
            </a:r>
          </a:p>
          <a:p>
            <a:pPr lvl="1"/>
            <a:r>
              <a:rPr lang="en-GB" b="1" dirty="0"/>
              <a:t>Example:</a:t>
            </a:r>
            <a:r>
              <a:rPr lang="en-GB" dirty="0"/>
              <a:t> Speaker identification (different speaker voice patterns).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CDE14-86E8-6FC1-05F7-D468C42C9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972931"/>
      </p:ext>
    </p:extLst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6CE9-87A2-F825-6055-C3D42350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E45A-0F62-C8E8-3418-805068C2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Algorithms of 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CDDE2-253F-2641-4F42-E121A3F6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Principal Component Analysis (PCA)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Reduce high-dimensional data to lower dimensions while keeping important information.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Reducing image size/features for faster facial recognition.</a:t>
            </a:r>
          </a:p>
          <a:p>
            <a:pPr marL="0" indent="0">
              <a:buNone/>
            </a:pPr>
            <a:r>
              <a:rPr lang="en-US" b="1" dirty="0"/>
              <a:t>6. Singular Value Decomposition (SVD)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Dimensionality reduction and matrix factorization.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Movie recommendation systems (Netflix, YouTube).</a:t>
            </a:r>
          </a:p>
          <a:p>
            <a:pPr marL="0" indent="0">
              <a:buNone/>
            </a:pPr>
            <a:r>
              <a:rPr lang="en-US" b="1" dirty="0"/>
              <a:t>7. </a:t>
            </a:r>
            <a:r>
              <a:rPr lang="en-US" b="1" dirty="0" err="1"/>
              <a:t>Apriori</a:t>
            </a:r>
            <a:r>
              <a:rPr lang="en-US" b="1" dirty="0"/>
              <a:t> Algorithm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Discover frequent </a:t>
            </a:r>
            <a:r>
              <a:rPr lang="en-US" dirty="0" err="1"/>
              <a:t>itemsets</a:t>
            </a:r>
            <a:r>
              <a:rPr lang="en-US" dirty="0"/>
              <a:t> and association rules.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Market Basket Analysis (People who buy bread also buy butter).</a:t>
            </a:r>
          </a:p>
          <a:p>
            <a:pPr marL="0" indent="0">
              <a:buNone/>
            </a:pPr>
            <a:r>
              <a:rPr lang="en-US" b="1" dirty="0"/>
              <a:t>8. Autoencoders (Neural Networks for Unsupervised Learning)</a:t>
            </a:r>
          </a:p>
          <a:p>
            <a:pPr lvl="1"/>
            <a:r>
              <a:rPr lang="en-US" b="1" dirty="0"/>
              <a:t>Use Case:</a:t>
            </a:r>
            <a:r>
              <a:rPr lang="en-US" dirty="0"/>
              <a:t> Learn compressed representations of data.</a:t>
            </a:r>
          </a:p>
          <a:p>
            <a:pPr lvl="1"/>
            <a:r>
              <a:rPr lang="en-US" b="1" dirty="0"/>
              <a:t>Example:</a:t>
            </a:r>
            <a:r>
              <a:rPr lang="en-US" dirty="0"/>
              <a:t> Removing noise from images (denoising autoencoders).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DFFE4-283E-C9BC-ABEE-875F53384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298700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ED71-9AFE-A65E-219D-5FC97B80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E2BFBE-C783-5123-42E1-41B03D1351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548454"/>
              </p:ext>
            </p:extLst>
          </p:nvPr>
        </p:nvGraphicFramePr>
        <p:xfrm>
          <a:off x="173830" y="1188766"/>
          <a:ext cx="11844340" cy="4175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66256">
                  <a:extLst>
                    <a:ext uri="{9D8B030D-6E8A-4147-A177-3AD203B41FA5}">
                      <a16:colId xmlns:a16="http://schemas.microsoft.com/office/drawing/2014/main" val="3086111439"/>
                    </a:ext>
                  </a:extLst>
                </a:gridCol>
                <a:gridCol w="2808515">
                  <a:extLst>
                    <a:ext uri="{9D8B030D-6E8A-4147-A177-3AD203B41FA5}">
                      <a16:colId xmlns:a16="http://schemas.microsoft.com/office/drawing/2014/main" val="2344715478"/>
                    </a:ext>
                  </a:extLst>
                </a:gridCol>
                <a:gridCol w="3408484">
                  <a:extLst>
                    <a:ext uri="{9D8B030D-6E8A-4147-A177-3AD203B41FA5}">
                      <a16:colId xmlns:a16="http://schemas.microsoft.com/office/drawing/2014/main" val="636742452"/>
                    </a:ext>
                  </a:extLst>
                </a:gridCol>
                <a:gridCol w="2961085">
                  <a:extLst>
                    <a:ext uri="{9D8B030D-6E8A-4147-A177-3AD203B41FA5}">
                      <a16:colId xmlns:a16="http://schemas.microsoft.com/office/drawing/2014/main" val="3117652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Algorithm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Category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One-line Use Case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Real-world Example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344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K-Means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Group similar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Customer segmentation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54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Hierarchical 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Build tree-like cluster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Gene clustering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184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DBSCAN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Detect clusters + outliers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GPS anomaly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38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Probabilistic cluster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Speaker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899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Dimensionality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Reduce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Facial recognition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50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SVD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Dimensionality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Matrix factorization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Movie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26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Apriori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Association Rule Mining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Find co-occurring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Market basket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06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Autoencoders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Representation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Learn compressed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Image noise removal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3735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A150C-D691-4279-459D-A74A8C28E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092962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A363-A7EC-6F1F-3391-294B9991D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05BF-48DB-1306-51F1-CF15448D6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 of ML where an agent/model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by interacting with an environment and receiving feedback through rewards or penalties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dirty="0"/>
              <a:t>It learns the best actions by </a:t>
            </a:r>
            <a:r>
              <a:rPr lang="en-GB" b="1" dirty="0"/>
              <a:t>trial and error</a:t>
            </a:r>
            <a:r>
              <a:rPr lang="en-GB" dirty="0"/>
              <a:t> to maximize the reward.</a:t>
            </a:r>
          </a:p>
          <a:p>
            <a:pPr marL="0" indent="0">
              <a:buNone/>
            </a:pPr>
            <a:r>
              <a:rPr lang="en-GB" b="1" dirty="0"/>
              <a:t>Example: </a:t>
            </a:r>
            <a:r>
              <a:rPr lang="en-GB" dirty="0"/>
              <a:t>A robot learning to walk, or an AI learning to play a game by earning points.</a:t>
            </a:r>
          </a:p>
          <a:p>
            <a:pPr marL="0" indent="0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agent/model aims to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the cumulative reward over time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choosing the best actions. 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is widely used in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tasks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sequential tasks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C8D0E-4382-2EF2-78F0-DD3BDEC99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3492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B2FD-0BEA-20EA-CB9E-2D5C639F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Algorithms of 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2DDE-11E8-77A0-1D36-BA02F7EE4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1. Q-Learning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Learn the best action for each state using a Q-table.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A robot learning the shortest path in a maze.</a:t>
            </a:r>
          </a:p>
          <a:p>
            <a:pPr marL="0" indent="0">
              <a:buNone/>
            </a:pPr>
            <a:r>
              <a:rPr lang="en-GB" b="1" dirty="0"/>
              <a:t>2. Deep Q-Network (DQN)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Uses deep neural networks to handle large or continuous state spaces.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AI learning to play Atari games like Breakout and Space Invaders.</a:t>
            </a:r>
          </a:p>
          <a:p>
            <a:pPr marL="0" indent="0">
              <a:buNone/>
            </a:pPr>
            <a:r>
              <a:rPr lang="en-GB" b="1" dirty="0"/>
              <a:t>3. SARSA (State–Action–Reward–State–Action)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Learns a policy that includes the effect of the agent’s current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Autonomous navigation where actions depend on the agent’s current policy (safer training).</a:t>
            </a:r>
          </a:p>
          <a:p>
            <a:pPr marL="0" indent="0">
              <a:buNone/>
            </a:pPr>
            <a:r>
              <a:rPr lang="en-GB" b="1" dirty="0"/>
              <a:t>4. Monte Carlo Control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Learn optimal actions by averaging returns from complete episodes.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Game-playing agents like blackjack strategies in casinos.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1B4DC-2EB9-B9FB-406B-282E17C69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773123"/>
      </p:ext>
    </p:extLst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DD02-B5FC-8E5F-0C06-35E3A52B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Algorithms of 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B607-5B39-15EF-8D2E-8BC821ED4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5. Policy Gradient Methods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Directly optimize the policy instead of a value function.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Robotics actions like smooth arm movement control.</a:t>
            </a:r>
          </a:p>
          <a:p>
            <a:pPr marL="0" indent="0">
              <a:buNone/>
            </a:pPr>
            <a:r>
              <a:rPr lang="en-GB" b="1" dirty="0"/>
              <a:t>6. REINFORCE Algorithm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A basic policy gradient method that improves actions based on rewards from episodes.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Training an agent to choose ads that maximize user clicks.</a:t>
            </a:r>
          </a:p>
          <a:p>
            <a:pPr marL="0" indent="0">
              <a:buNone/>
            </a:pPr>
            <a:r>
              <a:rPr lang="en-GB" b="1" dirty="0"/>
              <a:t>7. Actor–Critic Methods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Combine policy learning (actor) and value estimation (critic) for stable training.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Real-time decision-making in smart energy grid systems.</a:t>
            </a:r>
          </a:p>
          <a:p>
            <a:pPr marL="0" indent="0">
              <a:buNone/>
            </a:pPr>
            <a:r>
              <a:rPr lang="en-GB" b="1" dirty="0"/>
              <a:t>9. PPO (Proximal Policy Optimization)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 Maintains stable updates while improving policies, widely used in modern RL.</a:t>
            </a:r>
          </a:p>
          <a:p>
            <a:pPr lvl="1"/>
            <a:r>
              <a:rPr lang="en-GB" b="1" dirty="0"/>
              <a:t>Real-World Example:</a:t>
            </a:r>
            <a:r>
              <a:rPr lang="en-GB" dirty="0"/>
              <a:t> OpenAI used PPO to train robots and language-guided agents.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D7387-F4B9-CE24-3D47-BEADC4B38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935896"/>
      </p:ext>
    </p:extLst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DE78-799B-1017-6AF5-851CA5B40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Regression &amp;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F19D0-6E20-A8E2-DC57-65035CC11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11384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D292A-EB96-B370-2B9F-6FAD3163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Regression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6A796-CDEE-CD09-FCD4-8E4998683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960121"/>
            <a:ext cx="11856523" cy="57019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/>
              <a:t>regression problem</a:t>
            </a:r>
            <a:r>
              <a:rPr lang="en-GB" dirty="0"/>
              <a:t> is a type of machine learning task where the goal is to </a:t>
            </a:r>
            <a:r>
              <a:rPr lang="en-GB" b="1" dirty="0"/>
              <a:t>predict a continuous (numerical) value</a:t>
            </a:r>
            <a:r>
              <a:rPr lang="en-GB" dirty="0"/>
              <a:t> based on input data. Regression is used when the output </a:t>
            </a:r>
            <a:r>
              <a:rPr lang="en-GB" b="1" dirty="0">
                <a:highlight>
                  <a:srgbClr val="00FF00"/>
                </a:highlight>
              </a:rPr>
              <a:t>you want to predict is a number</a:t>
            </a:r>
            <a:r>
              <a:rPr lang="en-GB" dirty="0"/>
              <a:t>, </a:t>
            </a:r>
            <a:r>
              <a:rPr lang="en-GB" dirty="0">
                <a:solidFill>
                  <a:srgbClr val="EE0000"/>
                </a:solidFill>
              </a:rPr>
              <a:t>not a category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>
                <a:highlight>
                  <a:srgbClr val="FFFF00"/>
                </a:highlight>
              </a:rPr>
              <a:t>Examples</a:t>
            </a:r>
          </a:p>
          <a:p>
            <a:pPr marL="457200" lvl="1" indent="0">
              <a:buNone/>
            </a:pPr>
            <a:r>
              <a:rPr lang="en-GB" b="1" dirty="0"/>
              <a:t>1. Predicting House Price</a:t>
            </a:r>
          </a:p>
          <a:p>
            <a:pPr lvl="2"/>
            <a:r>
              <a:rPr lang="en-GB" dirty="0"/>
              <a:t>Input: size, location, number of rooms</a:t>
            </a:r>
          </a:p>
          <a:p>
            <a:pPr lvl="2"/>
            <a:r>
              <a:rPr lang="en-GB" dirty="0"/>
              <a:t>Output: </a:t>
            </a:r>
            <a:r>
              <a:rPr lang="en-GB" b="1" dirty="0"/>
              <a:t>Price in rupees</a:t>
            </a:r>
            <a:r>
              <a:rPr lang="en-GB" dirty="0"/>
              <a:t> → like 8,500,000 PKR </a:t>
            </a:r>
          </a:p>
          <a:p>
            <a:pPr lvl="2"/>
            <a:r>
              <a:rPr lang="en-GB" dirty="0"/>
              <a:t>This is a regression problem because the answer is a number.</a:t>
            </a:r>
          </a:p>
          <a:p>
            <a:pPr marL="457200" lvl="1" indent="0">
              <a:buNone/>
            </a:pPr>
            <a:r>
              <a:rPr lang="en-GB" b="1" dirty="0"/>
              <a:t>2. Predicting Temperature</a:t>
            </a:r>
          </a:p>
          <a:p>
            <a:pPr lvl="2"/>
            <a:r>
              <a:rPr lang="en-GB" dirty="0"/>
              <a:t>Input: humidity, wind speed, pressure</a:t>
            </a:r>
          </a:p>
          <a:p>
            <a:pPr lvl="2"/>
            <a:r>
              <a:rPr lang="en-GB" dirty="0"/>
              <a:t>Output: </a:t>
            </a:r>
            <a:r>
              <a:rPr lang="en-GB" b="1" dirty="0"/>
              <a:t>Temperature in °C</a:t>
            </a:r>
          </a:p>
          <a:p>
            <a:pPr lvl="2"/>
            <a:r>
              <a:rPr lang="en-GB" dirty="0"/>
              <a:t>Numerical value → regression.</a:t>
            </a:r>
          </a:p>
          <a:p>
            <a:pPr marL="457200" lvl="1" indent="0">
              <a:buNone/>
            </a:pPr>
            <a:r>
              <a:rPr lang="en-GB" b="1" dirty="0"/>
              <a:t>3. Predicting a Student’s Marks</a:t>
            </a:r>
          </a:p>
          <a:p>
            <a:pPr lvl="2"/>
            <a:r>
              <a:rPr lang="en-GB" dirty="0"/>
              <a:t>Input: study hours, attendance</a:t>
            </a:r>
          </a:p>
          <a:p>
            <a:pPr lvl="2"/>
            <a:r>
              <a:rPr lang="en-GB" dirty="0"/>
              <a:t>Output: </a:t>
            </a:r>
            <a:r>
              <a:rPr lang="en-GB" b="1" dirty="0"/>
              <a:t>Marks out of 100</a:t>
            </a:r>
          </a:p>
          <a:p>
            <a:pPr lvl="2"/>
            <a:r>
              <a:rPr lang="en-GB" dirty="0"/>
              <a:t>Again, numerical → regression.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1EB3C-DAB3-3463-B4BD-A242AEB34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39240"/>
      </p:ext>
    </p:extLst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1782-50D4-C372-174A-3B046B46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Classification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B8ABD-ED2E-559A-CFF7-FC6636525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/>
              <a:t>classification problem</a:t>
            </a:r>
            <a:r>
              <a:rPr lang="en-GB" dirty="0"/>
              <a:t> is a type of machine learning task where the goal is to </a:t>
            </a:r>
            <a:r>
              <a:rPr lang="en-GB" b="1" dirty="0"/>
              <a:t>predict a category or class</a:t>
            </a:r>
            <a:r>
              <a:rPr lang="en-GB" dirty="0"/>
              <a:t>, not a number. Classification is used when the output you want to predict is a </a:t>
            </a:r>
            <a:r>
              <a:rPr lang="en-GB" b="1" dirty="0"/>
              <a:t>label</a:t>
            </a:r>
            <a:r>
              <a:rPr lang="en-GB" dirty="0"/>
              <a:t>, such as </a:t>
            </a:r>
            <a:r>
              <a:rPr lang="en-GB" i="1" dirty="0"/>
              <a:t>yes/no</a:t>
            </a:r>
            <a:r>
              <a:rPr lang="en-GB" dirty="0"/>
              <a:t>, </a:t>
            </a:r>
            <a:r>
              <a:rPr lang="en-GB" i="1" dirty="0"/>
              <a:t>spam/not spam</a:t>
            </a:r>
            <a:r>
              <a:rPr lang="en-GB" dirty="0"/>
              <a:t>, or </a:t>
            </a:r>
            <a:r>
              <a:rPr lang="en-GB" i="1" dirty="0"/>
              <a:t>disease/no disease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Examples</a:t>
            </a:r>
          </a:p>
          <a:p>
            <a:pPr marL="457200" lvl="1" indent="0">
              <a:buNone/>
            </a:pPr>
            <a:r>
              <a:rPr lang="en-US" b="1" dirty="0"/>
              <a:t>1. Predicting Whether a Student Will Pass or Fail</a:t>
            </a:r>
          </a:p>
          <a:p>
            <a:pPr lvl="2"/>
            <a:r>
              <a:rPr lang="en-US" dirty="0"/>
              <a:t>Input: study hours, attendance</a:t>
            </a:r>
          </a:p>
          <a:p>
            <a:pPr lvl="2"/>
            <a:r>
              <a:rPr lang="en-US" dirty="0"/>
              <a:t>Output: </a:t>
            </a:r>
            <a:r>
              <a:rPr lang="en-US" b="1" dirty="0"/>
              <a:t>Pass</a:t>
            </a:r>
            <a:r>
              <a:rPr lang="en-US" dirty="0"/>
              <a:t> or </a:t>
            </a:r>
            <a:r>
              <a:rPr lang="en-US" b="1" dirty="0"/>
              <a:t>Fail</a:t>
            </a:r>
          </a:p>
          <a:p>
            <a:pPr lvl="2"/>
            <a:r>
              <a:rPr lang="en-US" dirty="0"/>
              <a:t>Two classes → </a:t>
            </a:r>
            <a:r>
              <a:rPr lang="en-US" i="1" dirty="0"/>
              <a:t>classification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b="1" dirty="0"/>
              <a:t>2. Classifying Types of Flowers (e.g., Iris Dataset)</a:t>
            </a:r>
          </a:p>
          <a:p>
            <a:pPr lvl="2"/>
            <a:r>
              <a:rPr lang="en-US" dirty="0"/>
              <a:t>Input: petal length, sepal width</a:t>
            </a:r>
          </a:p>
          <a:p>
            <a:pPr lvl="2"/>
            <a:r>
              <a:rPr lang="en-US" dirty="0"/>
              <a:t>Output: </a:t>
            </a:r>
            <a:r>
              <a:rPr lang="en-US" b="1" dirty="0" err="1"/>
              <a:t>Setosa</a:t>
            </a:r>
            <a:r>
              <a:rPr lang="en-US" dirty="0"/>
              <a:t>, </a:t>
            </a:r>
            <a:r>
              <a:rPr lang="en-US" b="1" dirty="0"/>
              <a:t>Versicolor</a:t>
            </a:r>
            <a:r>
              <a:rPr lang="en-US" dirty="0"/>
              <a:t>, or </a:t>
            </a:r>
            <a:r>
              <a:rPr lang="en-US" b="1" dirty="0"/>
              <a:t>Virginica</a:t>
            </a:r>
          </a:p>
          <a:p>
            <a:pPr lvl="2"/>
            <a:r>
              <a:rPr lang="en-US" dirty="0"/>
              <a:t>Three classes → </a:t>
            </a:r>
            <a:r>
              <a:rPr lang="en-US" i="1" dirty="0"/>
              <a:t>multi-class classification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b="1" dirty="0"/>
              <a:t>3. Medical Diagnosis</a:t>
            </a:r>
          </a:p>
          <a:p>
            <a:pPr lvl="2"/>
            <a:r>
              <a:rPr lang="en-US" dirty="0"/>
              <a:t>Input: symptoms, medical test values</a:t>
            </a:r>
          </a:p>
          <a:p>
            <a:pPr lvl="2"/>
            <a:r>
              <a:rPr lang="en-US" dirty="0"/>
              <a:t>Output: </a:t>
            </a:r>
            <a:r>
              <a:rPr lang="en-US" b="1" dirty="0"/>
              <a:t>Diabetic</a:t>
            </a:r>
            <a:r>
              <a:rPr lang="en-US" dirty="0"/>
              <a:t>, </a:t>
            </a:r>
            <a:r>
              <a:rPr lang="en-US" b="1" dirty="0"/>
              <a:t>Non-Diabetic</a:t>
            </a:r>
          </a:p>
          <a:p>
            <a:pPr lvl="2"/>
            <a:r>
              <a:rPr lang="en-US" dirty="0"/>
              <a:t>Categories → classification.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F4054-ED7D-C9F7-4C48-E24DDB15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64847"/>
      </p:ext>
    </p:extLst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7F19-C3A6-5A91-9DD5-DA8CDCF92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Model Evaluation Metrics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AE1D-935A-42EA-0262-994DD07700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(Accuracy, Precision, Recall, F1-Score)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77428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6409-6DD5-6B1D-8015-5B2363DF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List of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3EE-A302-930B-FA28-C9B30104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Matrix (Classification)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</a:p>
          <a:p>
            <a:pPr marL="461963" lvl="1" indent="-457200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1963" lvl="1" indent="-457200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Matrix (Regression)</a:t>
            </a:r>
          </a:p>
          <a:p>
            <a:pPr marL="1376363" lvl="3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(MAE) </a:t>
            </a:r>
          </a:p>
          <a:p>
            <a:pPr marL="1376363" lvl="3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 Error (MSE)</a:t>
            </a:r>
          </a:p>
          <a:p>
            <a:pPr marL="1376363" lvl="3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 Error (RMSE)</a:t>
            </a:r>
          </a:p>
          <a:p>
            <a:pPr marL="1376363" lvl="3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51ADC-C994-21C9-C09D-D0B141B9A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94997"/>
      </p:ext>
    </p:extLst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0457-30A6-18E5-04C5-29C9FE3B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Need of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A3A71-E1CE-C6B4-0614-7D5D0D3CB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process is the way to check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well a model or program works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process uses different methods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see if the model’s predictions (what it thinks will happen) are close to the actual results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 model is important because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the model has learned useful patterns or just memorized the 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good evaluation process helps to 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 the best model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any mistakes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its performance.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3ABE-6B7F-8061-8674-E55272FDB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791965"/>
      </p:ext>
    </p:extLst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BB97-A816-8A56-9659-9746E712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8C0FE-3266-69E9-C947-795EA3F05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960121"/>
            <a:ext cx="5912923" cy="5733642"/>
          </a:xfrm>
        </p:spPr>
        <p:txBody>
          <a:bodyPr/>
          <a:lstStyle/>
          <a:p>
            <a:pPr marL="457200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confusion matrix is a table that helps visualize the performance of a classification model.</a:t>
            </a:r>
          </a:p>
          <a:p>
            <a:pPr marL="457200" indent="-457200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correct and incorrect predictions are summarized with count values and broken down by each class.</a:t>
            </a:r>
          </a:p>
          <a:p>
            <a:pPr marL="457200" indent="-45720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BED0B-2450-F548-C638-D651E1BE3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4" descr="Image for post">
            <a:extLst>
              <a:ext uri="{FF2B5EF4-FFF2-40B4-BE49-F238E27FC236}">
                <a16:creationId xmlns:a16="http://schemas.microsoft.com/office/drawing/2014/main" id="{7D8B9B02-803D-A88B-8EBD-E8F19AFADA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14" b="27502"/>
          <a:stretch/>
        </p:blipFill>
        <p:spPr bwMode="auto">
          <a:xfrm>
            <a:off x="6444055" y="1961583"/>
            <a:ext cx="5564868" cy="293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38310"/>
      </p:ext>
    </p:extLst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A86F-BBB6-2F3A-0D3A-D4293A32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151B-C033-FCEC-B6B6-BD91E3D50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960121"/>
            <a:ext cx="4202311" cy="5733642"/>
          </a:xfrm>
        </p:spPr>
        <p:txBody>
          <a:bodyPr/>
          <a:lstStyle/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</a:t>
            </a:r>
          </a:p>
          <a:p>
            <a:pPr marL="457200" indent="-457200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Negative: 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(Type 1 Error)</a:t>
            </a:r>
          </a:p>
          <a:p>
            <a:pPr marL="457200" indent="-457200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Positive: 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(Type 2 Error)</a:t>
            </a:r>
          </a:p>
          <a:p>
            <a:pPr marL="457200" indent="-457200"/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Negative: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62CCC-FD2B-6FCC-41BB-906370AFC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CAA7A4-05C0-B174-20B3-1352A4EAB738}"/>
              </a:ext>
            </a:extLst>
          </p:cNvPr>
          <p:cNvGrpSpPr/>
          <p:nvPr/>
        </p:nvGrpSpPr>
        <p:grpSpPr>
          <a:xfrm>
            <a:off x="4189576" y="1165229"/>
            <a:ext cx="7877175" cy="5591175"/>
            <a:chOff x="2157413" y="633413"/>
            <a:chExt cx="7877175" cy="559117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7B3F9BE-3242-880A-B900-1CBB58CDB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7413" y="633413"/>
              <a:ext cx="7877175" cy="55911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1AD46F-59DC-6503-C36E-EF38C7E978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600" r="2066"/>
            <a:stretch/>
          </p:blipFill>
          <p:spPr>
            <a:xfrm>
              <a:off x="5576345" y="4697449"/>
              <a:ext cx="1476669" cy="143283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7273505-8364-B53F-5341-E8D73213A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4146" y="3079002"/>
              <a:ext cx="1432831" cy="1432831"/>
            </a:xfrm>
            <a:prstGeom prst="rect">
              <a:avLst/>
            </a:prstGeom>
          </p:spPr>
        </p:pic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ABEB2055-5047-D60D-B2CB-D36FFE4D91E9}"/>
                </a:ext>
              </a:extLst>
            </p:cNvPr>
            <p:cNvSpPr txBox="1"/>
            <p:nvPr/>
          </p:nvSpPr>
          <p:spPr>
            <a:xfrm rot="16200000">
              <a:off x="6602843" y="3626141"/>
              <a:ext cx="1432831" cy="338554"/>
            </a:xfrm>
            <a:prstGeom prst="rect">
              <a:avLst/>
            </a:prstGeom>
            <a:solidFill>
              <a:srgbClr val="00B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/>
                <a:t>It’s a </a:t>
              </a:r>
              <a:r>
                <a:rPr lang="en-US" sz="1600" b="1" dirty="0" err="1"/>
                <a:t>Markhor</a:t>
              </a:r>
              <a:endParaRPr lang="en-US" sz="1600" b="1" dirty="0"/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69D5CA0F-18B4-4FD9-3FBD-B52A46BEA079}"/>
                </a:ext>
              </a:extLst>
            </p:cNvPr>
            <p:cNvSpPr txBox="1"/>
            <p:nvPr/>
          </p:nvSpPr>
          <p:spPr>
            <a:xfrm rot="16200000">
              <a:off x="8948234" y="3656917"/>
              <a:ext cx="1432831" cy="276999"/>
            </a:xfrm>
            <a:prstGeom prst="rect">
              <a:avLst/>
            </a:prstGeom>
            <a:solidFill>
              <a:srgbClr val="E1589C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/>
                <a:t>It’s not a </a:t>
              </a:r>
              <a:r>
                <a:rPr lang="en-US" sz="1200" b="1" dirty="0" err="1"/>
                <a:t>Markhor</a:t>
              </a:r>
              <a:endParaRPr lang="en-US" sz="1200" b="1" dirty="0"/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41097D8D-F912-5DE6-E97E-C9CCBD678837}"/>
                </a:ext>
              </a:extLst>
            </p:cNvPr>
            <p:cNvSpPr txBox="1"/>
            <p:nvPr/>
          </p:nvSpPr>
          <p:spPr>
            <a:xfrm>
              <a:off x="5282792" y="2904896"/>
              <a:ext cx="5627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TP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CDF78E-A42E-0799-6043-ECF485A3C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1343" y="3089562"/>
              <a:ext cx="1432831" cy="1432831"/>
            </a:xfrm>
            <a:prstGeom prst="rect">
              <a:avLst/>
            </a:prstGeom>
          </p:spPr>
        </p:pic>
        <p:sp>
          <p:nvSpPr>
            <p:cNvPr id="13" name="TextBox 14">
              <a:extLst>
                <a:ext uri="{FF2B5EF4-FFF2-40B4-BE49-F238E27FC236}">
                  <a16:creationId xmlns:a16="http://schemas.microsoft.com/office/drawing/2014/main" id="{A350BC9D-F97B-A65D-7917-522448F43660}"/>
                </a:ext>
              </a:extLst>
            </p:cNvPr>
            <p:cNvSpPr txBox="1"/>
            <p:nvPr/>
          </p:nvSpPr>
          <p:spPr>
            <a:xfrm>
              <a:off x="7559989" y="2913752"/>
              <a:ext cx="5627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FN</a:t>
              </a:r>
            </a:p>
          </p:txBody>
        </p:sp>
        <p:sp>
          <p:nvSpPr>
            <p:cNvPr id="14" name="TextBox 19">
              <a:extLst>
                <a:ext uri="{FF2B5EF4-FFF2-40B4-BE49-F238E27FC236}">
                  <a16:creationId xmlns:a16="http://schemas.microsoft.com/office/drawing/2014/main" id="{D3D52690-3134-FB8C-8824-E96A3F91A8E8}"/>
                </a:ext>
              </a:extLst>
            </p:cNvPr>
            <p:cNvSpPr txBox="1"/>
            <p:nvPr/>
          </p:nvSpPr>
          <p:spPr>
            <a:xfrm rot="16200000">
              <a:off x="6602843" y="5253688"/>
              <a:ext cx="1432831" cy="338554"/>
            </a:xfrm>
            <a:prstGeom prst="rect">
              <a:avLst/>
            </a:prstGeom>
            <a:solidFill>
              <a:srgbClr val="E1589C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/>
                <a:t>It’s a </a:t>
              </a:r>
              <a:r>
                <a:rPr lang="en-US" sz="1600" b="1" dirty="0" err="1"/>
                <a:t>Markhor</a:t>
              </a:r>
              <a:endParaRPr lang="en-US" sz="1600" b="1" dirty="0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983EA9-DFDB-BAA2-D3B9-D55096EEC01E}"/>
                </a:ext>
              </a:extLst>
            </p:cNvPr>
            <p:cNvSpPr txBox="1"/>
            <p:nvPr/>
          </p:nvSpPr>
          <p:spPr>
            <a:xfrm>
              <a:off x="5276275" y="4559912"/>
              <a:ext cx="5627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FP</a:t>
              </a:r>
            </a:p>
          </p:txBody>
        </p:sp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42CE19C0-2345-75B2-99E9-885F52F2DBA3}"/>
                </a:ext>
              </a:extLst>
            </p:cNvPr>
            <p:cNvSpPr txBox="1"/>
            <p:nvPr/>
          </p:nvSpPr>
          <p:spPr>
            <a:xfrm rot="16200000">
              <a:off x="8948234" y="5284463"/>
              <a:ext cx="1432831" cy="276999"/>
            </a:xfrm>
            <a:prstGeom prst="rect">
              <a:avLst/>
            </a:prstGeom>
            <a:solidFill>
              <a:srgbClr val="00B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 b="1" dirty="0"/>
                <a:t>It’s not a </a:t>
              </a:r>
              <a:r>
                <a:rPr lang="en-US" sz="1200" b="1" dirty="0" err="1"/>
                <a:t>Markhor</a:t>
              </a:r>
              <a:endParaRPr lang="en-US" sz="1200" b="1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D9EED2C-8748-4480-F284-4D529661E2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600" r="2066"/>
            <a:stretch/>
          </p:blipFill>
          <p:spPr>
            <a:xfrm>
              <a:off x="7874791" y="4701011"/>
              <a:ext cx="1476669" cy="1432831"/>
            </a:xfrm>
            <a:prstGeom prst="rect">
              <a:avLst/>
            </a:prstGeom>
          </p:spPr>
        </p:pic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959A43E2-D299-833B-DFF3-6781E243415B}"/>
                </a:ext>
              </a:extLst>
            </p:cNvPr>
            <p:cNvSpPr txBox="1"/>
            <p:nvPr/>
          </p:nvSpPr>
          <p:spPr>
            <a:xfrm>
              <a:off x="7553472" y="4568768"/>
              <a:ext cx="5627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TN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1982563"/>
      </p:ext>
    </p:extLst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AA84-B0F2-D870-C6D9-05433735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Confusion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A6B4-5D07-F83F-802F-AA928FFE1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2C8E9-15A5-6315-1F6B-53758A0994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64"/>
          <a:stretch/>
        </p:blipFill>
        <p:spPr>
          <a:xfrm>
            <a:off x="377389" y="970384"/>
            <a:ext cx="11736856" cy="547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68399"/>
      </p:ext>
    </p:extLst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86EA9-C601-0F05-CE72-C692C07D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0C9E-328F-AC35-C2EB-39C052F6E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Confusion Matrix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615D-BF37-B110-F711-7F5DC2E8D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8" y="3508309"/>
            <a:ext cx="10565788" cy="318545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you answer these questions: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How many computers were bought?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What is the value of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the sale of computers?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What is the numbers of computers which were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actually bought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algorithm also predicted it correctly?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What is the total number of samples in the data?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67705-9F1D-4E16-92EC-D6F3EB3AF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4CA21D-3860-F1B2-EC70-3E9427DA4062}"/>
              </a:ext>
            </a:extLst>
          </p:cNvPr>
          <p:cNvSpPr>
            <a:spLocks noGrp="1"/>
          </p:cNvSpPr>
          <p:nvPr/>
        </p:nvSpPr>
        <p:spPr>
          <a:xfrm>
            <a:off x="10590244" y="3508309"/>
            <a:ext cx="1520892" cy="3106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7000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7366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6954</a:t>
            </a:r>
          </a:p>
          <a:p>
            <a:pPr marL="0" indent="0">
              <a:buNone/>
            </a:pPr>
            <a:endParaRPr 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10000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289B6E-C9A0-2A9C-E71C-8A47A7EE8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593324"/>
              </p:ext>
            </p:extLst>
          </p:nvPr>
        </p:nvGraphicFramePr>
        <p:xfrm>
          <a:off x="289250" y="1126067"/>
          <a:ext cx="11504644" cy="23337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0236">
                  <a:extLst>
                    <a:ext uri="{9D8B030D-6E8A-4147-A177-3AD203B41FA5}">
                      <a16:colId xmlns:a16="http://schemas.microsoft.com/office/drawing/2014/main" val="1279657081"/>
                    </a:ext>
                  </a:extLst>
                </a:gridCol>
                <a:gridCol w="2855167">
                  <a:extLst>
                    <a:ext uri="{9D8B030D-6E8A-4147-A177-3AD203B41FA5}">
                      <a16:colId xmlns:a16="http://schemas.microsoft.com/office/drawing/2014/main" val="3796301865"/>
                    </a:ext>
                  </a:extLst>
                </a:gridCol>
                <a:gridCol w="2894600">
                  <a:extLst>
                    <a:ext uri="{9D8B030D-6E8A-4147-A177-3AD203B41FA5}">
                      <a16:colId xmlns:a16="http://schemas.microsoft.com/office/drawing/2014/main" val="578777677"/>
                    </a:ext>
                  </a:extLst>
                </a:gridCol>
                <a:gridCol w="1994641">
                  <a:extLst>
                    <a:ext uri="{9D8B030D-6E8A-4147-A177-3AD203B41FA5}">
                      <a16:colId xmlns:a16="http://schemas.microsoft.com/office/drawing/2014/main" val="2832753302"/>
                    </a:ext>
                  </a:extLst>
                </a:gridCol>
              </a:tblGrid>
              <a:tr h="718356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class\Predicted class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12043"/>
                  </a:ext>
                </a:extLst>
              </a:tr>
              <a:tr h="410982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6954</a:t>
                      </a:r>
                      <a:endParaRPr lang="en-US" sz="32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32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487246"/>
                  </a:ext>
                </a:extLst>
              </a:tr>
              <a:tr h="444386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412</a:t>
                      </a:r>
                      <a:endParaRPr lang="en-US" sz="32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2588</a:t>
                      </a:r>
                      <a:endParaRPr lang="en-US" sz="32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58359"/>
                  </a:ext>
                </a:extLst>
              </a:tr>
              <a:tr h="444386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	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7366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2634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3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67636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00DD-04E3-4D8E-626E-9B32C868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D80B-E61A-6849-AD04-EFA7863F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Confusion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0FFE8-1B43-C34A-8F2B-A19E67F55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5854475"/>
            <a:ext cx="11856523" cy="839288"/>
          </a:xfrm>
        </p:spPr>
        <p:txBody>
          <a:bodyPr/>
          <a:lstStyle/>
          <a:p>
            <a:r>
              <a:rPr lang="en-US" dirty="0">
                <a:hlinkClick r:id="rId2"/>
              </a:rPr>
              <a:t>Confusion Matrix - Online Calculator</a:t>
            </a:r>
            <a:r>
              <a:rPr lang="en-US" dirty="0"/>
              <a:t> Link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AF025-1B58-BD03-49B6-89B7CADAA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C48D0-5C59-1C91-22A7-6C0380D56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09" y="1126067"/>
            <a:ext cx="5880202" cy="4728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6ED6A3-365A-84A3-EE99-FF0023924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327" y="1086501"/>
            <a:ext cx="5079606" cy="476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60747"/>
      </p:ext>
    </p:extLst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876D-6C48-8545-6069-38DF0B235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Confusion Matrix for Multiple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AC7AF-0341-E507-2940-20C5C3EE4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assume we have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5-class problem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classes </a:t>
            </a:r>
            <a:r>
              <a:rPr lang="en-GB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B, C, D, and E</a:t>
            </a:r>
            <a:r>
              <a:rPr lang="en-GB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following confusion matrix: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D85B8-A0B6-AEB9-6573-9748FF056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70CCB7B1-C4FC-1733-838B-F74F485F9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24" y="2357308"/>
            <a:ext cx="9298709" cy="40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5542"/>
      </p:ext>
    </p:extLst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C602-7712-B83C-6263-0DC3C5D9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Confusion Matrix for Multiple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ABF1-AD38-160B-351F-D8E281E11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test examples/Samples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any class would be the sum of the corresponding row (i.e. TP+FN for that class).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for </a:t>
            </a:r>
            <a:r>
              <a:rPr lang="en-GB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551CF-6CCA-786B-8AAC-27B1979F0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7846245C-F543-6DFA-861D-921808E5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63" y="2575704"/>
            <a:ext cx="9266719" cy="40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73543"/>
      </p:ext>
    </p:extLst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942D-C811-DFC5-E8D9-FB2E3129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AE34-424F-E485-4FAF-351EB2CA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Confusion Matrix for Multiple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EF50-D2E0-21DA-79C4-EA7F3BF88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TP’s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diagonal value.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class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class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class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class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class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rgbClr val="E158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86C78-93C3-77D2-7992-48DC63D10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B6B357E7-4B6D-98E6-CCA8-CD1F03CF8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822" y="2672108"/>
            <a:ext cx="8775513" cy="379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77552"/>
      </p:ext>
    </p:extLst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4AD5-1E7A-A473-012A-4724DCF7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DDA4-43E2-836C-8A65-4D56C7D5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Confusion Matrix for Multiple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2FAF9-66CE-4FFF-C7FA-B3EA467FC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FN’s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sum of values in the corresponding row (excluding the TP).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AB+AC+AD+AE</a:t>
            </a:r>
          </a:p>
          <a:p>
            <a:r>
              <a:rPr lang="en-US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BA+BC+BD+BE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E9E68-4D16-E4CA-0B29-58B043851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CBF91BB4-BB42-4CFF-2BA4-76DE10845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47" y="2632364"/>
            <a:ext cx="8713577" cy="37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94983"/>
      </p:ext>
    </p:extLst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C324F-5477-FBAD-1360-FC12414A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410C-1536-C626-EB02-202B347E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Confusion Matrix for Multiple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FE2E4-A0C6-C783-0823-C69AA462A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FP’s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sum of values in the corresponding column (excluding the TP).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A: </a:t>
            </a: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BA+CA+DA+EA</a:t>
            </a:r>
          </a:p>
          <a:p>
            <a:r>
              <a:rPr lang="en-US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B: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AB+CB+DB+EB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12380-154D-B891-DC69-7D70182FE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8A811972-1C4B-6F08-ADA1-B72D8EC4B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095" y="2752436"/>
            <a:ext cx="8696203" cy="376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23045"/>
      </p:ext>
    </p:extLst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A4887-15A7-4937-A86F-2919C8F5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E73C-BD33-DB4B-BBA6-BE9CB6DD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Confusion Matrix for Multiple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0B2D8-1F49-08FB-712E-7E4CC9EF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TN’s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sum of all columns and rows excluding that class’s column and row.</a:t>
            </a:r>
          </a:p>
          <a:p>
            <a:r>
              <a:rPr lang="en-US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A: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B: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F7BF-2D9F-3914-195A-61A628793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E37AA79E-E07A-1C40-EC2A-5C32DA7E0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698" y="1329530"/>
            <a:ext cx="5943600" cy="2570480"/>
          </a:xfrm>
          <a:prstGeom prst="rect">
            <a:avLst/>
          </a:prstGeom>
        </p:spPr>
      </p:pic>
      <p:pic>
        <p:nvPicPr>
          <p:cNvPr id="6" name="table">
            <a:extLst>
              <a:ext uri="{FF2B5EF4-FFF2-40B4-BE49-F238E27FC236}">
                <a16:creationId xmlns:a16="http://schemas.microsoft.com/office/drawing/2014/main" id="{50FC6F54-7D58-F138-EEC5-9D316E7E7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98" y="3965414"/>
            <a:ext cx="5943600" cy="257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56168"/>
      </p:ext>
    </p:extLst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57D6-F448-A254-26C7-FE377A80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837A-F7C7-08C2-C59E-E4963C8F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Confusion Matrix for Multiple classes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A13E2-DED4-F1E6-1C99-C06542833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B1A4C-AC33-7DA1-CA3E-1354304A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876" y="1007706"/>
            <a:ext cx="9404566" cy="573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60408"/>
      </p:ext>
    </p:extLst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85F9-80D6-BFEB-A176-C6EE7EAC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B8D3C-B01C-CC37-EA00-890CF3775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evaluation metric is one of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simplest and most widely used evaluation measures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performance of classification models.</a:t>
            </a:r>
          </a:p>
          <a:p>
            <a:endParaRPr lang="en-GB" sz="2000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is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of correctly predicted records/ samples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 positive and negative) to the total number of testing records/ samples.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Range: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values range from 0 to 1, where: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the model is always wrong.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100%) means the model is always correct.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3E506-80C4-0ED3-3E74-5F1B865A7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0">
                <a:extLst>
                  <a:ext uri="{FF2B5EF4-FFF2-40B4-BE49-F238E27FC236}">
                    <a16:creationId xmlns:a16="http://schemas.microsoft.com/office/drawing/2014/main" id="{458557A5-31C9-C0CD-93BA-80514537259F}"/>
                  </a:ext>
                </a:extLst>
              </p:cNvPr>
              <p:cNvSpPr txBox="1"/>
              <p:nvPr/>
            </p:nvSpPr>
            <p:spPr>
              <a:xfrm>
                <a:off x="874320" y="3511616"/>
                <a:ext cx="10474035" cy="8613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𝐴𝑐𝑐𝑢𝑟</m:t>
                      </m:r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𝑎𝑐𝑦</m:t>
                      </m:r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𝑐𝑜𝑟𝑟𝑒𝑐𝑡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𝑝𝑟𝑒𝑑𝑖𝑐𝑡𝑖𝑜𝑛𝑠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𝑝𝑟𝑒𝑑𝑖𝑐𝑡𝑖𝑜𝑛𝑠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10">
                <a:extLst>
                  <a:ext uri="{FF2B5EF4-FFF2-40B4-BE49-F238E27FC236}">
                    <a16:creationId xmlns:a16="http://schemas.microsoft.com/office/drawing/2014/main" id="{458557A5-31C9-C0CD-93BA-805145372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20" y="3511616"/>
                <a:ext cx="10474035" cy="861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703569"/>
      </p:ext>
    </p:extLst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259B-17DC-B7E3-D121-578C428C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B8240-9581-15E0-E3CE-C8ABBC70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Accuracy 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31168-ABB4-574F-3129-74431392E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5467739"/>
            <a:ext cx="11856523" cy="122602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has  ___ % accuracy.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BDEB8-42C1-9EF4-01E6-1AAC075C6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8EAAD6-708A-30B5-8F2A-6EC175F0B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00467"/>
              </p:ext>
            </p:extLst>
          </p:nvPr>
        </p:nvGraphicFramePr>
        <p:xfrm>
          <a:off x="2006083" y="1098362"/>
          <a:ext cx="9729622" cy="2186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8497">
                  <a:extLst>
                    <a:ext uri="{9D8B030D-6E8A-4147-A177-3AD203B41FA5}">
                      <a16:colId xmlns:a16="http://schemas.microsoft.com/office/drawing/2014/main" val="1279657081"/>
                    </a:ext>
                  </a:extLst>
                </a:gridCol>
                <a:gridCol w="2820916">
                  <a:extLst>
                    <a:ext uri="{9D8B030D-6E8A-4147-A177-3AD203B41FA5}">
                      <a16:colId xmlns:a16="http://schemas.microsoft.com/office/drawing/2014/main" val="3796301865"/>
                    </a:ext>
                  </a:extLst>
                </a:gridCol>
                <a:gridCol w="3193724">
                  <a:extLst>
                    <a:ext uri="{9D8B030D-6E8A-4147-A177-3AD203B41FA5}">
                      <a16:colId xmlns:a16="http://schemas.microsoft.com/office/drawing/2014/main" val="578777677"/>
                    </a:ext>
                  </a:extLst>
                </a:gridCol>
                <a:gridCol w="996485">
                  <a:extLst>
                    <a:ext uri="{9D8B030D-6E8A-4147-A177-3AD203B41FA5}">
                      <a16:colId xmlns:a16="http://schemas.microsoft.com/office/drawing/2014/main" val="2832753302"/>
                    </a:ext>
                  </a:extLst>
                </a:gridCol>
              </a:tblGrid>
              <a:tr h="488333">
                <a:tc>
                  <a:txBody>
                    <a:bodyPr/>
                    <a:lstStyle/>
                    <a:p>
                      <a:pPr algn="ctr"/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12043"/>
                  </a:ext>
                </a:extLst>
              </a:tr>
              <a:tr h="614055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6954</a:t>
                      </a:r>
                      <a:endParaRPr lang="en-US" sz="28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28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487246"/>
                  </a:ext>
                </a:extLst>
              </a:tr>
              <a:tr h="614055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412</a:t>
                      </a:r>
                      <a:endParaRPr lang="en-US" sz="28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2588</a:t>
                      </a:r>
                      <a:endParaRPr lang="en-US" sz="28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58359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	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7366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2634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3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52B2F-8E85-465D-7F59-2A3C7AE56519}"/>
                  </a:ext>
                </a:extLst>
              </p:cNvPr>
              <p:cNvSpPr txBox="1"/>
              <p:nvPr/>
            </p:nvSpPr>
            <p:spPr>
              <a:xfrm>
                <a:off x="756930" y="3915006"/>
                <a:ext cx="10678140" cy="12306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𝐴𝑐𝑐𝑢𝑟</m:t>
                      </m:r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𝑎𝑐𝑦</m:t>
                      </m:r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6954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2588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6954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2588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412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46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10,000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52B2F-8E85-465D-7F59-2A3C7AE56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30" y="3915006"/>
                <a:ext cx="10678140" cy="1230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7697"/>
      </p:ext>
    </p:extLst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C519-B11F-27BC-BA23-136580275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06C5E-A970-05EA-E568-A5F551F0B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is used to check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well a model finds all the true positive cases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dataset.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especially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the model missing positive cases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(like failing to detect a disease) is a bigger problem than having a few extra false positives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Range: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 values range from 0 to 1, where: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the model missed all the positive cases.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100%) means the model correctly found every positive case.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1E4EF-B119-C5AF-1DBA-6ECFB156D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5586BF8E-614A-B244-24E2-3464E677AAE9}"/>
                  </a:ext>
                </a:extLst>
              </p:cNvPr>
              <p:cNvSpPr txBox="1"/>
              <p:nvPr/>
            </p:nvSpPr>
            <p:spPr>
              <a:xfrm>
                <a:off x="1872502" y="3052861"/>
                <a:ext cx="9269651" cy="84856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𝑒𝑐𝑎𝑙𝑙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𝑁𝑒𝑔𝑎𝑡𝑖𝑣𝑒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5586BF8E-614A-B244-24E2-3464E677A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502" y="3052861"/>
                <a:ext cx="9269651" cy="848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201879"/>
      </p:ext>
    </p:extLst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6E2D-08CF-660B-9AC2-FB9C3475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2508E-6DB6-6C03-675A-31E6E0269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4435303"/>
            <a:ext cx="11856523" cy="22584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has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___ % recall.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is valuable when the dataset is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such cases, 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can be misleading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recall focuses on finding all positive samples.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34E3-D995-8A8B-DBB5-DD351E380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C03F81-89B6-5039-74CE-0A4C1144F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135377"/>
              </p:ext>
            </p:extLst>
          </p:nvPr>
        </p:nvGraphicFramePr>
        <p:xfrm>
          <a:off x="2715208" y="953202"/>
          <a:ext cx="8665933" cy="2186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1299">
                  <a:extLst>
                    <a:ext uri="{9D8B030D-6E8A-4147-A177-3AD203B41FA5}">
                      <a16:colId xmlns:a16="http://schemas.microsoft.com/office/drawing/2014/main" val="1279657081"/>
                    </a:ext>
                  </a:extLst>
                </a:gridCol>
                <a:gridCol w="2512520">
                  <a:extLst>
                    <a:ext uri="{9D8B030D-6E8A-4147-A177-3AD203B41FA5}">
                      <a16:colId xmlns:a16="http://schemas.microsoft.com/office/drawing/2014/main" val="3796301865"/>
                    </a:ext>
                  </a:extLst>
                </a:gridCol>
                <a:gridCol w="2844570">
                  <a:extLst>
                    <a:ext uri="{9D8B030D-6E8A-4147-A177-3AD203B41FA5}">
                      <a16:colId xmlns:a16="http://schemas.microsoft.com/office/drawing/2014/main" val="578777677"/>
                    </a:ext>
                  </a:extLst>
                </a:gridCol>
                <a:gridCol w="887544">
                  <a:extLst>
                    <a:ext uri="{9D8B030D-6E8A-4147-A177-3AD203B41FA5}">
                      <a16:colId xmlns:a16="http://schemas.microsoft.com/office/drawing/2014/main" val="2832753302"/>
                    </a:ext>
                  </a:extLst>
                </a:gridCol>
              </a:tblGrid>
              <a:tr h="532355">
                <a:tc>
                  <a:txBody>
                    <a:bodyPr/>
                    <a:lstStyle/>
                    <a:p>
                      <a:pPr algn="ctr"/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12043"/>
                  </a:ext>
                </a:extLst>
              </a:tr>
              <a:tr h="590656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6954</a:t>
                      </a:r>
                      <a:endParaRPr lang="en-US" sz="28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28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487246"/>
                  </a:ext>
                </a:extLst>
              </a:tr>
              <a:tr h="590656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412</a:t>
                      </a:r>
                      <a:endParaRPr lang="en-US" sz="28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2588</a:t>
                      </a:r>
                      <a:endParaRPr lang="en-US" sz="28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58359"/>
                  </a:ext>
                </a:extLst>
              </a:tr>
              <a:tr h="472525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	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7366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2634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3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9C60F4-7B09-689B-B5F4-5A8D01891A00}"/>
                  </a:ext>
                </a:extLst>
              </p:cNvPr>
              <p:cNvSpPr txBox="1"/>
              <p:nvPr/>
            </p:nvSpPr>
            <p:spPr>
              <a:xfrm>
                <a:off x="971233" y="3429000"/>
                <a:ext cx="10049162" cy="8613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𝑒𝑐𝑎𝑙𝑙</m:t>
                      </m:r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6954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6954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46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6954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7000</m:t>
                          </m:r>
                          <m:r>
                            <a:rPr lang="en-US" sz="24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9C60F4-7B09-689B-B5F4-5A8D01891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233" y="3429000"/>
                <a:ext cx="10049162" cy="861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088120"/>
      </p:ext>
    </p:extLst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D401-D991-200F-E8B4-7C4727A44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E35AF-4CD4-CE92-40C9-69E10787E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the positive predictions of a model are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when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important to avoid false positives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(wrongly marking something as positive) than it is to find every positive case.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Range: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values range from 0 to 1, where: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that all positive predictions are incorrect.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100%) means that all positive predictions are correct.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7F988-6777-D5DA-C2C0-8B2FDB431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6275425D-5DE4-3C77-419D-425F5F7A8297}"/>
                  </a:ext>
                </a:extLst>
              </p:cNvPr>
              <p:cNvSpPr txBox="1"/>
              <p:nvPr/>
            </p:nvSpPr>
            <p:spPr>
              <a:xfrm>
                <a:off x="2388637" y="2696998"/>
                <a:ext cx="8398262" cy="10225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𝑒𝑐𝑎𝑙𝑙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11">
                <a:extLst>
                  <a:ext uri="{FF2B5EF4-FFF2-40B4-BE49-F238E27FC236}">
                    <a16:creationId xmlns:a16="http://schemas.microsoft.com/office/drawing/2014/main" id="{6275425D-5DE4-3C77-419D-425F5F7A8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637" y="2696998"/>
                <a:ext cx="8398262" cy="10225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664182"/>
      </p:ext>
    </p:extLst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1B03E-36A8-571B-0788-53B8E98D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BAE8-893E-3191-F02A-35497570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93E68-00EE-DE37-C065-9DE03CF51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4516016"/>
            <a:ext cx="11856523" cy="220573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has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___ % precision.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is valuable when the dataset is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such cases, 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can be misleading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recall focuses on finding all positive samples.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86407-318B-1AF0-A876-D55F49467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1CCC18-70D0-45EA-8BB6-4CC6B989F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46642"/>
              </p:ext>
            </p:extLst>
          </p:nvPr>
        </p:nvGraphicFramePr>
        <p:xfrm>
          <a:off x="2080727" y="932764"/>
          <a:ext cx="9958873" cy="21213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2554">
                  <a:extLst>
                    <a:ext uri="{9D8B030D-6E8A-4147-A177-3AD203B41FA5}">
                      <a16:colId xmlns:a16="http://schemas.microsoft.com/office/drawing/2014/main" val="1279657081"/>
                    </a:ext>
                  </a:extLst>
                </a:gridCol>
                <a:gridCol w="2887382">
                  <a:extLst>
                    <a:ext uri="{9D8B030D-6E8A-4147-A177-3AD203B41FA5}">
                      <a16:colId xmlns:a16="http://schemas.microsoft.com/office/drawing/2014/main" val="3796301865"/>
                    </a:ext>
                  </a:extLst>
                </a:gridCol>
                <a:gridCol w="3268973">
                  <a:extLst>
                    <a:ext uri="{9D8B030D-6E8A-4147-A177-3AD203B41FA5}">
                      <a16:colId xmlns:a16="http://schemas.microsoft.com/office/drawing/2014/main" val="578777677"/>
                    </a:ext>
                  </a:extLst>
                </a:gridCol>
                <a:gridCol w="1019964">
                  <a:extLst>
                    <a:ext uri="{9D8B030D-6E8A-4147-A177-3AD203B41FA5}">
                      <a16:colId xmlns:a16="http://schemas.microsoft.com/office/drawing/2014/main" val="2832753302"/>
                    </a:ext>
                  </a:extLst>
                </a:gridCol>
              </a:tblGrid>
              <a:tr h="473461">
                <a:tc>
                  <a:txBody>
                    <a:bodyPr/>
                    <a:lstStyle/>
                    <a:p>
                      <a:pPr algn="ctr"/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12043"/>
                  </a:ext>
                </a:extLst>
              </a:tr>
              <a:tr h="595354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6954</a:t>
                      </a:r>
                      <a:endParaRPr lang="en-US" sz="32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32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487246"/>
                  </a:ext>
                </a:extLst>
              </a:tr>
              <a:tr h="595354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412</a:t>
                      </a:r>
                      <a:endParaRPr lang="en-US" sz="32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2588</a:t>
                      </a:r>
                      <a:endParaRPr lang="en-US" sz="32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58359"/>
                  </a:ext>
                </a:extLst>
              </a:tr>
              <a:tr h="455270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	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7366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2634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24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3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7EB4ED-5FEC-B258-77FB-A912D11D8BF1}"/>
                  </a:ext>
                </a:extLst>
              </p:cNvPr>
              <p:cNvSpPr txBox="1"/>
              <p:nvPr/>
            </p:nvSpPr>
            <p:spPr>
              <a:xfrm>
                <a:off x="1353788" y="3309149"/>
                <a:ext cx="10049162" cy="9894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𝑟𝑒𝑐𝑖𝑠𝑖𝑜𝑛</m:t>
                      </m:r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6954</m:t>
                          </m:r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6954</m:t>
                          </m:r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412</m:t>
                          </m:r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6954</m:t>
                          </m:r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7,366</m:t>
                          </m:r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C7EB4ED-5FEC-B258-77FB-A912D11D8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788" y="3309149"/>
                <a:ext cx="10049162" cy="9894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201325"/>
      </p:ext>
    </p:extLst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3DF8-AD7C-D262-A2F5-1C2B1FB3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EDBE-66E4-173F-D34E-CD55CAF3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 F1-Score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6EE0-472E-3B03-0A74-DA12A3B69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F1 Score is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harmonic mean of Precision and Recall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Range:</a:t>
            </a:r>
            <a:r>
              <a:rPr lang="en-GB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F1-Score ranges from 0 to 1, where: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either precision or recall is zero (perform poorly).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both precision and recall are perfect (perform very well).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50789-F98B-1B06-2060-9F7AE8AB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907413-309A-9A45-37E2-6B156BDBFAE7}"/>
                  </a:ext>
                </a:extLst>
              </p:cNvPr>
              <p:cNvSpPr txBox="1"/>
              <p:nvPr/>
            </p:nvSpPr>
            <p:spPr>
              <a:xfrm>
                <a:off x="520163" y="2508812"/>
                <a:ext cx="11182350" cy="1156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6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36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36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×(</m:t>
                          </m:r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𝑃𝑟𝑒𝑐𝑖𝑠𝑜𝑛</m:t>
                          </m:r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𝑅𝑒𝑐𝑎𝑙𝑙</m:t>
                          </m:r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6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𝑃𝑟𝑒𝑐𝑖𝑠𝑜𝑛</m:t>
                          </m:r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US" sz="3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907413-309A-9A45-37E2-6B156BDBF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63" y="2508812"/>
                <a:ext cx="11182350" cy="11567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407616"/>
      </p:ext>
    </p:extLst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6255-57B6-7757-1CCF-3793FEBA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 F1-Score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E1005-12CF-3360-C94A-7794AED89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5261103"/>
            <a:ext cx="11856523" cy="143265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has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___ F1-Score.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A78E9-1F00-27E6-34FD-E4B8F5198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5E663F-2E76-12F8-7923-6D6DC2E42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714971"/>
              </p:ext>
            </p:extLst>
          </p:nvPr>
        </p:nvGraphicFramePr>
        <p:xfrm>
          <a:off x="2220686" y="1009325"/>
          <a:ext cx="9263092" cy="2506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8147">
                  <a:extLst>
                    <a:ext uri="{9D8B030D-6E8A-4147-A177-3AD203B41FA5}">
                      <a16:colId xmlns:a16="http://schemas.microsoft.com/office/drawing/2014/main" val="1279657081"/>
                    </a:ext>
                  </a:extLst>
                </a:gridCol>
                <a:gridCol w="2685655">
                  <a:extLst>
                    <a:ext uri="{9D8B030D-6E8A-4147-A177-3AD203B41FA5}">
                      <a16:colId xmlns:a16="http://schemas.microsoft.com/office/drawing/2014/main" val="3796301865"/>
                    </a:ext>
                  </a:extLst>
                </a:gridCol>
                <a:gridCol w="3040586">
                  <a:extLst>
                    <a:ext uri="{9D8B030D-6E8A-4147-A177-3AD203B41FA5}">
                      <a16:colId xmlns:a16="http://schemas.microsoft.com/office/drawing/2014/main" val="578777677"/>
                    </a:ext>
                  </a:extLst>
                </a:gridCol>
                <a:gridCol w="948704">
                  <a:extLst>
                    <a:ext uri="{9D8B030D-6E8A-4147-A177-3AD203B41FA5}">
                      <a16:colId xmlns:a16="http://schemas.microsoft.com/office/drawing/2014/main" val="2832753302"/>
                    </a:ext>
                  </a:extLst>
                </a:gridCol>
              </a:tblGrid>
              <a:tr h="610416">
                <a:tc>
                  <a:txBody>
                    <a:bodyPr/>
                    <a:lstStyle/>
                    <a:p>
                      <a:pPr algn="ctr"/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12043"/>
                  </a:ext>
                </a:extLst>
              </a:tr>
              <a:tr h="677266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(yes)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6954</a:t>
                      </a:r>
                      <a:endParaRPr lang="en-US" sz="28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  <a:endParaRPr lang="en-US" sz="28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487246"/>
                  </a:ext>
                </a:extLst>
              </a:tr>
              <a:tr h="677266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buy_computer</a:t>
                      </a:r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(no)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412</a:t>
                      </a:r>
                      <a:endParaRPr lang="en-US" sz="2800" b="1" i="0" u="none" strike="noStrike" kern="12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2588</a:t>
                      </a:r>
                      <a:endParaRPr lang="en-US" sz="2800" b="1" i="0" u="none" strike="noStrike" kern="1200" baseline="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58359"/>
                  </a:ext>
                </a:extLst>
              </a:tr>
              <a:tr h="541813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	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7366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2634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en-US" sz="20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3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ABD4C47A-208A-5B91-01D2-955C9E6C1742}"/>
                  </a:ext>
                </a:extLst>
              </p:cNvPr>
              <p:cNvSpPr txBox="1"/>
              <p:nvPr/>
            </p:nvSpPr>
            <p:spPr>
              <a:xfrm>
                <a:off x="1025236" y="3632827"/>
                <a:ext cx="10591376" cy="90390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36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36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𝑆𝑐𝑜𝑟𝑒</m:t>
                    </m:r>
                    <m:r>
                      <a:rPr lang="en-US" sz="36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𝑃𝑟𝑒𝑐𝑖𝑠𝑜𝑛</m:t>
                        </m:r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𝑃𝑟𝑒𝑐𝑖𝑠𝑜𝑛</m:t>
                        </m:r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7030A0"/>
                    </a:solidFill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×(0.9934×</m:t>
                        </m:r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0.9440</m:t>
                        </m:r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0.9934</m:t>
                        </m:r>
                        <m:r>
                          <a:rPr lang="en-US" sz="3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36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0.9440</m:t>
                        </m:r>
                      </m:den>
                    </m:f>
                    <m:r>
                      <a:rPr lang="en-US" sz="36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endParaRPr lang="en-US" sz="3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ABD4C47A-208A-5B91-01D2-955C9E6C1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36" y="3632827"/>
                <a:ext cx="10591376" cy="9039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202737"/>
      </p:ext>
    </p:extLst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7164-B25B-6B99-384C-E3A0C5C7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 ROC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872F-6132-6902-C70B-835BC455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Operating Characteristics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curve.</a:t>
            </a:r>
          </a:p>
          <a:p>
            <a:pPr marL="457200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plot of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Rate (TPR)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Rate (FPR)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rate:</a:t>
            </a:r>
          </a:p>
          <a:p>
            <a:pPr marL="457200" indent="-457200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rate (or Fallout):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148F3-1722-95F2-80C3-22BDE160B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511C8-4518-AA91-D882-15750B8D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681" y="2901821"/>
            <a:ext cx="3498049" cy="1574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C43D72-26F9-2E4E-C486-07AADC3F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020" y="4693675"/>
            <a:ext cx="3796403" cy="157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04590"/>
      </p:ext>
    </p:extLst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4A098-C5BB-B9FF-3565-460F434F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 ROC Explain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283C5-5A3F-5E13-7884-3AAEE6E9A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for the perfect classifier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26622-53EE-8891-A914-29A5B9692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5CF4B-DD0C-2429-222D-1C98FFB52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090" y="960121"/>
            <a:ext cx="7442094" cy="558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39090"/>
      </p:ext>
    </p:extLst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B78F-409F-6E7A-BE61-6C101555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 ROC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1DDFD-B460-6591-4344-005CEEF1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8" y="960121"/>
            <a:ext cx="4986082" cy="5733642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</a:p>
          <a:p>
            <a:pPr marL="514350" indent="-514350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classifier is good for the value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</a:p>
          <a:p>
            <a:pPr marL="514350" indent="-514350">
              <a:buAutoNum type="arabicPeriod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one is good for the value of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0.42</a:t>
            </a:r>
          </a:p>
          <a:p>
            <a:pPr marL="514350" indent="-514350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one performs well for the value of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</a:p>
          <a:p>
            <a:pPr marL="514350" indent="-514350"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one you select?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ED7E5-7577-A9B3-E370-2B87AA3A3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C2B95-9EC7-4CC1-644A-879C4F52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51" r="11089" b="11166"/>
          <a:stretch/>
        </p:blipFill>
        <p:spPr>
          <a:xfrm>
            <a:off x="5289583" y="1250302"/>
            <a:ext cx="6805727" cy="503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27513"/>
      </p:ext>
    </p:extLst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63FE0-D640-B002-1791-C10233C6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7. Mean Absolute Error (MAE)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FDA09-91BD-F6C1-3398-77BFAA4F4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Error is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amount of Error in a measurement</a:t>
            </a:r>
            <a:endParaRPr lang="en-US" b="1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E36A9-7266-B4DA-76EA-9A99C943B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408BB-5C97-D417-E1BA-B98D33A76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5" y="1595535"/>
            <a:ext cx="10296958" cy="462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53753"/>
      </p:ext>
    </p:extLst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40C-FDF3-FB04-0FD4-EFECBF0D4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8. Mean Square Error (MSE)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5A8C2-078A-2C69-141E-A7EAFDF1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77" y="960121"/>
            <a:ext cx="6031111" cy="5733642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standard performance evaluation measure</a:t>
            </a:r>
            <a:endParaRPr lang="en-US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90F7C-152A-BB1A-791E-FBD6A1A49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2FCBA-2223-248A-C778-093A8573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95" t="4865" r="12651" b="8650"/>
          <a:stretch>
            <a:fillRect/>
          </a:stretch>
        </p:blipFill>
        <p:spPr>
          <a:xfrm>
            <a:off x="6640286" y="1106993"/>
            <a:ext cx="5399314" cy="518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90778"/>
      </p:ext>
    </p:extLst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466F-DB1C-C183-8D61-951FE39B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9. </a:t>
            </a:r>
            <a:r>
              <a:rPr lang="en-GB" dirty="0"/>
              <a:t>Root Mean Square Error (RMSE)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7253A-03D7-7D0C-EBC7-E205E36F6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GB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  <a:r>
              <a:rPr lang="en-GB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predicted Error</a:t>
            </a:r>
            <a:endParaRPr lang="en-US" i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66E8D-3ACE-7C1E-4EB8-1353BF407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E602B-4D08-E149-8863-D53713960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12" y="2211355"/>
            <a:ext cx="10794384" cy="333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07096"/>
      </p:ext>
    </p:extLst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F5D9-1662-27DD-408D-B5330997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10. Euclidean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8BCC3-1480-9A7B-7C0E-21B7EF61B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most commonly used measures to calculate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straight-line distance between two points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C5732-A3FD-8445-4B89-242002F4F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3977E-5663-F5D7-EFB6-C14AC5BCB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54" t="8843" r="16125" b="5374"/>
          <a:stretch/>
        </p:blipFill>
        <p:spPr>
          <a:xfrm>
            <a:off x="6282816" y="1470709"/>
            <a:ext cx="5616504" cy="5073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E57E0C-5FA5-B209-836D-E34515A26EB4}"/>
              </a:ext>
            </a:extLst>
          </p:cNvPr>
          <p:cNvSpPr txBox="1"/>
          <p:nvPr/>
        </p:nvSpPr>
        <p:spPr>
          <a:xfrm>
            <a:off x="183077" y="1993928"/>
            <a:ext cx="6434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endParaRPr lang="en-US" sz="2800" b="1" noProof="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C9D8B-4194-B4F7-9364-94D93669D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38" t="47811" r="1483" b="27677"/>
          <a:stretch/>
        </p:blipFill>
        <p:spPr>
          <a:xfrm>
            <a:off x="305234" y="3040367"/>
            <a:ext cx="5779798" cy="1337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C64DC2-37AA-02F7-BD58-9D22DD8203B6}"/>
              </a:ext>
            </a:extLst>
          </p:cNvPr>
          <p:cNvSpPr txBox="1"/>
          <p:nvPr/>
        </p:nvSpPr>
        <p:spPr>
          <a:xfrm>
            <a:off x="1871517" y="4478777"/>
            <a:ext cx="411018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P(2, 3) :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x1=2, y1=3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Q(6, 8):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x2=6, y2=8</a:t>
            </a:r>
            <a:endParaRPr lang="en-US" sz="2800" noProof="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933277"/>
      </p:ext>
    </p:extLst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DC82-2E24-3463-5A00-BF75D6E9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11. Manhattan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1E7F-22D8-0D62-9798-2D7AA84BC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known as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norm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taxicab distance.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represents the path you would take if you could only move horizontally or vertically.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2DBEA-EA6D-96D4-3837-B9B09195E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F33A3-B52C-27D0-BBA5-A41E5C093531}"/>
              </a:ext>
            </a:extLst>
          </p:cNvPr>
          <p:cNvSpPr txBox="1"/>
          <p:nvPr/>
        </p:nvSpPr>
        <p:spPr>
          <a:xfrm>
            <a:off x="91440" y="2591088"/>
            <a:ext cx="6434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endParaRPr lang="en-US" sz="2800" b="1" noProof="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2D4FBB4-02F0-DA79-CE58-FF5E129CD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101" y="1979549"/>
            <a:ext cx="10446499" cy="4465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883046"/>
      </p:ext>
    </p:extLst>
  </p:cSld>
  <p:clrMapOvr>
    <a:masterClrMapping/>
  </p:clrMapOvr>
  <p:transition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81F7-4C8F-81CA-CAA3-8626B2B7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12. Hamming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0021A-AE00-5AA3-FD44-368A801B5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Hamming Distance is a metric used to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the difference between two strings of equal length.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calculates the positions at which the corresponding symbols (characters or bits) differ.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033E2-1B65-439B-CEAA-C3FC1F5DF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703DA-1256-B599-A65D-76B8F9BF3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0098" y="2216382"/>
            <a:ext cx="9678868" cy="457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87464"/>
      </p:ext>
    </p:extLst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66A2-452B-42AB-FD79-AB7EEBC4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13. Jaccard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8BE9A-D9C8-A607-F23E-EC3A2D350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metric that measures the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dissimilarity between two sets.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derived from the Jaccard Index, which is a calculation between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sets by comparing the size of their intersection to the size of their union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84820-3B63-CB9A-B00A-C86AC19CD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40AA0-7179-C1BB-E3BA-C6A90D3D8A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35" t="11860" r="3861"/>
          <a:stretch/>
        </p:blipFill>
        <p:spPr>
          <a:xfrm>
            <a:off x="6708955" y="2626789"/>
            <a:ext cx="5308375" cy="30319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1F8E2C-ECD2-1A40-54FE-DE349DB7121B}"/>
                  </a:ext>
                </a:extLst>
              </p:cNvPr>
              <p:cNvSpPr txBox="1"/>
              <p:nvPr/>
            </p:nvSpPr>
            <p:spPr>
              <a:xfrm>
                <a:off x="543646" y="4604124"/>
                <a:ext cx="6181860" cy="1127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4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4000" b="1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4000" b="1" i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4000" b="1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𝒋𝒂𝒄𝒄𝒂𝒓𝒅</m:t>
                            </m:r>
                            <m:r>
                              <m:rPr>
                                <m:lit/>
                              </m:rPr>
                              <a:rPr lang="en-US" sz="4000" b="1" i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𝒊𝒏𝒅𝒆𝒙</m:t>
                            </m: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1F8E2C-ECD2-1A40-54FE-DE349DB71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46" y="4604124"/>
                <a:ext cx="6181860" cy="11278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2C460C-2EED-0801-1705-8D9EF520AFCB}"/>
                  </a:ext>
                </a:extLst>
              </p:cNvPr>
              <p:cNvSpPr txBox="1"/>
              <p:nvPr/>
            </p:nvSpPr>
            <p:spPr>
              <a:xfrm>
                <a:off x="504825" y="3030073"/>
                <a:ext cx="6181860" cy="1528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4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  <m:mr>
                          <m:e>
                            <m: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  <m:t>𝑱</m:t>
                            </m:r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𝒂𝒄𝒄𝒂𝒓𝒅</m:t>
                            </m:r>
                            <m:r>
                              <a:rPr lang="en-US" sz="4000" b="1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0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sz="4000" b="1" i="1">
                                <a:latin typeface="Cambria Math" panose="02040503050406030204" pitchFamily="18" charset="0"/>
                              </a:rPr>
                              <m:t>𝒏𝒅𝒆𝒙</m:t>
                            </m:r>
                            <m:r>
                              <a:rPr lang="en-US" sz="4000" b="1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4000" b="1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1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4000" b="1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a:rPr lang="en-US" sz="4000" b="1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4000" b="1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40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4000" b="1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2C460C-2EED-0801-1705-8D9EF520A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5" y="3030073"/>
                <a:ext cx="6181860" cy="1528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145426"/>
      </p:ext>
    </p:extLst>
  </p:cSld>
  <p:clrMapOvr>
    <a:masterClrMapping/>
  </p:clrMapOvr>
  <p:transition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24266-0E1E-2CEC-850B-FA902176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Jaccard Distance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F6858-FC1F-7DF5-8AA3-F73D10426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0285F-43D3-62F2-D4D3-5743E9DDFB38}"/>
              </a:ext>
            </a:extLst>
          </p:cNvPr>
          <p:cNvSpPr txBox="1"/>
          <p:nvPr/>
        </p:nvSpPr>
        <p:spPr>
          <a:xfrm>
            <a:off x="401340" y="1132529"/>
            <a:ext cx="111823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A: {apple, banana, cherry}</a:t>
            </a:r>
          </a:p>
          <a:p>
            <a:pPr algn="just"/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B: {banana, cherry, date, berry}</a:t>
            </a:r>
          </a:p>
          <a:p>
            <a:pPr algn="just"/>
            <a:endParaRPr lang="en-GB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algn="just"/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</a:t>
            </a:r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∩ B)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{banana, cherry}			</a:t>
            </a:r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|A ∩ B|: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just"/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 </a:t>
            </a:r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∪ B)</a:t>
            </a:r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{apple, banana, cherry, date, elderberry}, </a:t>
            </a:r>
            <a:r>
              <a:rPr lang="en-GB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|A ∪ B|: 5</a:t>
            </a:r>
            <a:endParaRPr lang="en-GB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7D91E-DC98-C1DD-672A-8F199CAE0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35" t="11860" r="3861"/>
          <a:stretch/>
        </p:blipFill>
        <p:spPr>
          <a:xfrm>
            <a:off x="8499340" y="979465"/>
            <a:ext cx="3291320" cy="1879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2494AA-2CF4-AECC-87C4-2B4207D502D9}"/>
                  </a:ext>
                </a:extLst>
              </p:cNvPr>
              <p:cNvSpPr txBox="1"/>
              <p:nvPr/>
            </p:nvSpPr>
            <p:spPr>
              <a:xfrm>
                <a:off x="2760750" y="4386643"/>
                <a:ext cx="6181860" cy="10978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  <m:m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𝑱𝒂𝒄𝒄𝒂𝒓𝒅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𝑰𝒏𝒅𝒆𝒙</m:t>
                            </m:r>
                            <m:r>
                              <a:rPr lang="en-US" sz="28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800" b="1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800" b="1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mr>
                      </m:m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2494AA-2CF4-AECC-87C4-2B4207D50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750" y="4386643"/>
                <a:ext cx="6181860" cy="10978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33CA27-37BC-6AC9-5503-DF5F714D2093}"/>
                  </a:ext>
                </a:extLst>
              </p:cNvPr>
              <p:cNvSpPr txBox="1"/>
              <p:nvPr/>
            </p:nvSpPr>
            <p:spPr>
              <a:xfrm>
                <a:off x="2760750" y="5655684"/>
                <a:ext cx="6181860" cy="644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  <m:m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8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800" b="1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d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mr>
                      </m:m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33CA27-37BC-6AC9-5503-DF5F714D2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750" y="5655684"/>
                <a:ext cx="6181860" cy="6442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297307"/>
      </p:ext>
    </p:extLst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F327-6F75-E7B8-D86F-E3C7AECAF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Fitting &amp; Under Fitting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26404-5BF5-014D-7B4E-25E7991DD6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98058"/>
      </p:ext>
    </p:extLst>
  </p:cSld>
  <p:clrMapOvr>
    <a:masterClrMapping/>
  </p:clrMapOvr>
  <p:transition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E5B2-E184-D109-8DEC-38318E28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 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65B0-6ECD-06B3-CB3B-2F3132B44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occurs when a model learns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only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patterns in the training data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also the noise and outliers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 a result, the model performs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well on the training data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poorly on new, unseen 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of Overfitting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on the training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 marL="914400" lvl="1" indent="-457200"/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performance on the test or validation 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too complex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having too many parameters/features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avoid overfitting:</a:t>
            </a: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simpler models: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the complexity (e.g., fewer features, simpler algorithms).</a:t>
            </a:r>
          </a:p>
          <a:p>
            <a:pPr marL="914400" lvl="1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techniques like K-fold cross-validation.</a:t>
            </a:r>
          </a:p>
          <a:p>
            <a:pPr marL="914400" lvl="1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training data: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data can help the model learn general patterns instead of noise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5DAB8-5A69-8008-3DDD-E211ED0E0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698100"/>
      </p:ext>
    </p:extLst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65B6-C0C7-C325-0E7A-7FA8E2ECE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1C40C-0976-117A-9CF8-E807F6AAE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 occurs when a model is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simple to capture the patterns of the data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model will perform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poorly on both the training data and new, unseen data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hasn’t learned enough from the training set.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 of Underfitting:</a:t>
            </a:r>
          </a:p>
          <a:p>
            <a:pPr marL="914400" lvl="1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accuracy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both training and test data.</a:t>
            </a:r>
          </a:p>
          <a:p>
            <a:pPr marL="914400" lvl="1" indent="-45720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simplistic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too constrained.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avoid underfitting: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model complexity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more complex models or add more features.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overly simplistic assumptions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 the model is capable of capturing the relationships in the data.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more training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Let the model train for more epochs or iterations (e.g., for neural networks).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1B0CF-2AC6-D8A5-D55D-AFF7B4DD9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49287"/>
      </p:ext>
    </p:extLst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C376-D52E-3EFB-B507-F70944F4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</a:t>
            </a:r>
            <a:r>
              <a:rPr lang="en-US" dirty="0" err="1"/>
              <a:t>ipynb</a:t>
            </a:r>
            <a:r>
              <a:rPr lang="en-US" dirty="0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E8A1C-92A4-9395-D551-970B81B04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python repo: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https://github.com/Mubshr07/ArtificialIntelligence-HITEC-Fall2025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your GitHub account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star to this repo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029F8-E00B-1124-D499-873017F84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27117"/>
      </p:ext>
    </p:extLst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69BB-5C2A-FD05-CDAE-E6E660CD3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3F4A-E4F2-4B27-593E-6C4A608D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7971541" cy="57247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Data Splitting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Introduction to ML (ML):</a:t>
            </a:r>
          </a:p>
          <a:p>
            <a:pPr marL="457200" lvl="1" indent="0">
              <a:buNone/>
            </a:pPr>
            <a:r>
              <a:rPr lang="en-GB" dirty="0"/>
              <a:t>•	Types of ML: Supervised, Unsupervised, Reinforcement Learning</a:t>
            </a:r>
          </a:p>
          <a:p>
            <a:pPr marL="457200" lvl="1" indent="0">
              <a:buNone/>
            </a:pPr>
            <a:r>
              <a:rPr lang="en-GB" dirty="0"/>
              <a:t>•	Regression (Linear and Logistic)</a:t>
            </a:r>
          </a:p>
          <a:p>
            <a:pPr marL="457200" lvl="1" indent="0">
              <a:buNone/>
            </a:pPr>
            <a:r>
              <a:rPr lang="en-GB" dirty="0"/>
              <a:t>•	Classification Techniques</a:t>
            </a:r>
          </a:p>
          <a:p>
            <a:pPr marL="457200" lvl="1" indent="0">
              <a:buNone/>
            </a:pPr>
            <a:r>
              <a:rPr lang="en-GB" dirty="0"/>
              <a:t>•	Model Evaluation Metrics (Accuracy, Precision, Recall, F1-Score)</a:t>
            </a:r>
          </a:p>
          <a:p>
            <a:pPr marL="457200" lvl="1" indent="0">
              <a:buNone/>
            </a:pPr>
            <a:r>
              <a:rPr lang="en-GB" dirty="0"/>
              <a:t>•	Hyperparameter Tuning and Overfitting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9CEF2-82BB-4848-61D2-B3208C635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3898F3-53D0-4600-AC2E-55B5DBF6C672}" type="slidenum">
              <a:rPr lang="en-US" noProof="0" smtClean="0"/>
              <a:pPr/>
              <a:t>71</a:t>
            </a:fld>
            <a:endParaRPr lang="en-US" noProof="0" dirty="0"/>
          </a:p>
        </p:txBody>
      </p:sp>
      <p:pic>
        <p:nvPicPr>
          <p:cNvPr id="4" name="Picture 2" descr="I Have A Question GIFs | Tenor">
            <a:extLst>
              <a:ext uri="{FF2B5EF4-FFF2-40B4-BE49-F238E27FC236}">
                <a16:creationId xmlns:a16="http://schemas.microsoft.com/office/drawing/2014/main" id="{11D9D591-97D8-E034-342C-04C4CF3DA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307" y="1077255"/>
            <a:ext cx="3780293" cy="378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759863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Theme">
  <a:themeElements>
    <a:clrScheme name="HITEC Color Templete">
      <a:dk1>
        <a:srgbClr val="0F1A1D"/>
      </a:dk1>
      <a:lt1>
        <a:srgbClr val="D6E5EA"/>
      </a:lt1>
      <a:dk2>
        <a:srgbClr val="0F1A1D"/>
      </a:dk2>
      <a:lt2>
        <a:srgbClr val="DBE9F7"/>
      </a:lt2>
      <a:accent1>
        <a:srgbClr val="081726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6548</TotalTime>
  <Words>4621</Words>
  <Application>Microsoft Office PowerPoint</Application>
  <PresentationFormat>Widescreen</PresentationFormat>
  <Paragraphs>731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Aptos</vt:lpstr>
      <vt:lpstr>Arial</vt:lpstr>
      <vt:lpstr>Cambria Math</vt:lpstr>
      <vt:lpstr>Times New Roman</vt:lpstr>
      <vt:lpstr>Office Theme</vt:lpstr>
      <vt:lpstr>CS312 Artificial Intelligence</vt:lpstr>
      <vt:lpstr>Lecture Content</vt:lpstr>
      <vt:lpstr>Data Splitting</vt:lpstr>
      <vt:lpstr>Data Splitting</vt:lpstr>
      <vt:lpstr>Data Splitting</vt:lpstr>
      <vt:lpstr>Data Splitting</vt:lpstr>
      <vt:lpstr>Why Do We Need Data Splitting?</vt:lpstr>
      <vt:lpstr>Techniques for Data Splitting</vt:lpstr>
      <vt:lpstr>Introduction to  Artificial Intelligence </vt:lpstr>
      <vt:lpstr>Artificial Intelligence (AI)</vt:lpstr>
      <vt:lpstr>PowerPoint Presentation</vt:lpstr>
      <vt:lpstr>Key Branches of AI</vt:lpstr>
      <vt:lpstr>Key Branches of AI</vt:lpstr>
      <vt:lpstr>Key Branches of AI</vt:lpstr>
      <vt:lpstr>Introduction to ML </vt:lpstr>
      <vt:lpstr>Machine Learning </vt:lpstr>
      <vt:lpstr>Machine Learning </vt:lpstr>
      <vt:lpstr>Machine Learning </vt:lpstr>
      <vt:lpstr>1. Supervised Learning</vt:lpstr>
      <vt:lpstr>Algorithms of Supervised Learning</vt:lpstr>
      <vt:lpstr>Algorithms of Supervised Learning</vt:lpstr>
      <vt:lpstr>Summary</vt:lpstr>
      <vt:lpstr>2. Unsupervised Learning</vt:lpstr>
      <vt:lpstr>Algorithms of Unsupervised Learning</vt:lpstr>
      <vt:lpstr>Algorithms of Unsupervised Learning</vt:lpstr>
      <vt:lpstr>Summary</vt:lpstr>
      <vt:lpstr>3. Reinforcement Learning</vt:lpstr>
      <vt:lpstr>Algorithms of Reinforcement Learning</vt:lpstr>
      <vt:lpstr>Algorithms of Reinforcement Learning</vt:lpstr>
      <vt:lpstr>Regression &amp; Classification</vt:lpstr>
      <vt:lpstr>What is Regression Problem</vt:lpstr>
      <vt:lpstr>What is Classification Problem</vt:lpstr>
      <vt:lpstr>Model Evaluation Metrics</vt:lpstr>
      <vt:lpstr>List of Evaluation Metrics</vt:lpstr>
      <vt:lpstr>Need of Evaluation</vt:lpstr>
      <vt:lpstr>1. Confusion Matrix</vt:lpstr>
      <vt:lpstr>1. Confusion Matrix</vt:lpstr>
      <vt:lpstr>1. Confusion Matrix</vt:lpstr>
      <vt:lpstr>1. Confusion Matrix (Example)</vt:lpstr>
      <vt:lpstr>1. Confusion Matrix</vt:lpstr>
      <vt:lpstr>Confusion Matrix for Multiple classes</vt:lpstr>
      <vt:lpstr>Confusion Matrix for Multiple classes</vt:lpstr>
      <vt:lpstr>Confusion Matrix for Multiple classes</vt:lpstr>
      <vt:lpstr>Confusion Matrix for Multiple classes</vt:lpstr>
      <vt:lpstr>Confusion Matrix for Multiple classes</vt:lpstr>
      <vt:lpstr>Confusion Matrix for Multiple classes</vt:lpstr>
      <vt:lpstr>Confusion Matrix for Multiple classes</vt:lpstr>
      <vt:lpstr>2. Accuracy</vt:lpstr>
      <vt:lpstr>2. Accuracy (Example)</vt:lpstr>
      <vt:lpstr>3. Recall</vt:lpstr>
      <vt:lpstr>3. Recall</vt:lpstr>
      <vt:lpstr>4. Precision</vt:lpstr>
      <vt:lpstr>4. Precision</vt:lpstr>
      <vt:lpstr>5. F1-Score</vt:lpstr>
      <vt:lpstr>5. F1-Score</vt:lpstr>
      <vt:lpstr>6. ROC Curve</vt:lpstr>
      <vt:lpstr>6. ROC Explain</vt:lpstr>
      <vt:lpstr>6. ROC Example</vt:lpstr>
      <vt:lpstr>7. Mean Absolute Error (MAE)</vt:lpstr>
      <vt:lpstr>8. Mean Square Error (MSE)</vt:lpstr>
      <vt:lpstr>9. Root Mean Square Error (RMSE)</vt:lpstr>
      <vt:lpstr>10. Euclidean Distance</vt:lpstr>
      <vt:lpstr>11. Manhattan Distance</vt:lpstr>
      <vt:lpstr>12. Hamming Distance</vt:lpstr>
      <vt:lpstr>13. Jaccard Distance</vt:lpstr>
      <vt:lpstr>Example of Jaccard Distance</vt:lpstr>
      <vt:lpstr>Over Fitting &amp; Under Fitting</vt:lpstr>
      <vt:lpstr>Over Fitting</vt:lpstr>
      <vt:lpstr>Underfitting</vt:lpstr>
      <vt:lpstr>Python ipynb code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BS105 - Applied Physics</dc:title>
  <dc:creator>Mubashir Iqbal</dc:creator>
  <cp:lastModifiedBy>Mubashir Iqbal</cp:lastModifiedBy>
  <cp:revision>1034</cp:revision>
  <dcterms:created xsi:type="dcterms:W3CDTF">2025-02-22T18:08:14Z</dcterms:created>
  <dcterms:modified xsi:type="dcterms:W3CDTF">2025-12-13T16:44:57Z</dcterms:modified>
</cp:coreProperties>
</file>